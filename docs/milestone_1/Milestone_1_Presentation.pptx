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embeddedFontLst>
    <p:embeddedFont>
      <p:font typeface="Economica" panose="020B0600070205080204" charset="0"/>
      <p:regular r:id="rId22"/>
      <p:bold r:id="rId23"/>
      <p:italic r:id="rId24"/>
      <p:boldItalic r:id="rId25"/>
    </p:embeddedFont>
    <p:embeddedFont>
      <p:font typeface="Open Sans" panose="020B0606030504020204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AB161CF-73B8-43E8-8068-DB64BA0F7ECB}">
  <a:tblStyle styleId="{6AB161CF-73B8-43E8-8068-DB64BA0F7EC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78" y="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941f8cccb5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941f8cccb5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9414194a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9414194a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Describe the tools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9414194a3e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9414194a3e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9414194a3e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9414194a3e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414194a3e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9414194a3e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Introduce the demos and explain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94235bc0f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94235bc0f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on the left is the starting the server, which is locally hosted. Image on the right is the result of a get request at the root of site.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942a3d0a35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942a3d0a35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942a3d0a35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942a3d0a35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942a3d0a35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942a3d0a35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dk1"/>
                </a:solidFill>
              </a:rPr>
              <a:t>“&amp; Use Case Diagram”?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4336b0700_1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4336b0700_1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94336b0700_1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94336b0700_1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94336b0700_1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94336b0700_1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94336b0700_1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94336b0700_1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94336b0700_1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94336b0700_1_1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42a3d0a35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42a3d0a35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942a3d0a35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942a3d0a35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9414194a3e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9414194a3e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94336b0700_1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94336b0700_1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31050" y="1023125"/>
            <a:ext cx="8481900" cy="19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6190"/>
              <a:buFont typeface="Arial"/>
              <a:buNone/>
            </a:pPr>
            <a:r>
              <a:rPr lang="en" sz="4200">
                <a:latin typeface="Economica"/>
                <a:ea typeface="Economica"/>
                <a:cs typeface="Economica"/>
                <a:sym typeface="Economica"/>
              </a:rPr>
              <a:t>Project Ragnarok: </a:t>
            </a:r>
            <a:endParaRPr sz="4200">
              <a:latin typeface="Economica"/>
              <a:ea typeface="Economica"/>
              <a:cs typeface="Economica"/>
              <a:sym typeface="Economic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latin typeface="Economica"/>
                <a:ea typeface="Economica"/>
                <a:cs typeface="Economica"/>
                <a:sym typeface="Economica"/>
              </a:rPr>
              <a:t>Post-Quantum Cybersecurity with Lightning data</a:t>
            </a:r>
            <a:br>
              <a:rPr lang="en"/>
            </a:br>
            <a:r>
              <a:rPr lang="en" sz="4200">
                <a:latin typeface="Economica"/>
                <a:ea typeface="Economica"/>
                <a:cs typeface="Economica"/>
                <a:sym typeface="Economica"/>
              </a:rPr>
              <a:t>Milestone 1 Presentation</a:t>
            </a:r>
            <a:endParaRPr sz="4200"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2789475" y="2983925"/>
            <a:ext cx="3606000" cy="13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7500" lnSpcReduction="10000"/>
          </a:bodyPr>
          <a:lstStyle/>
          <a:p>
            <a:pPr marL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80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Team Members: Joanna Zhang, </a:t>
            </a:r>
            <a:endParaRPr sz="208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80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Gianni Bubb, Aidan Nelappana</a:t>
            </a:r>
            <a:endParaRPr sz="208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80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Faculty Advisor and Client: Dr. Bhattacharyya</a:t>
            </a:r>
            <a:endParaRPr sz="208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 Reintroduction</a:t>
            </a:r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9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 b="1">
                <a:solidFill>
                  <a:schemeClr val="dk1"/>
                </a:solidFill>
              </a:rPr>
              <a:t>Goal: Extend Project Thor capabilities by adding new cryptographic algorithms, easier pulling of keys, and database security</a:t>
            </a:r>
            <a:endParaRPr sz="1700" b="1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Project Thor used the natural randomness in lightning data produce cryptographic keys. Project Ragnarok will improve on Project Thor by adding new features.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Originally keys were generated directly on the website. For convenience, users will be able to instead request keys from the website via an API.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Project Thor provided MD5 and AES. We want to provide cryptographic algorithms for a post-quantum age to further future proof Project Thor’s original aspirations.</a:t>
            </a:r>
            <a:endParaRPr sz="17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Task 1: Technical tools</a:t>
            </a:r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1"/>
          </p:nvPr>
        </p:nvSpPr>
        <p:spPr>
          <a:xfrm>
            <a:off x="311700" y="1389525"/>
            <a:ext cx="8520600" cy="318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Python API frameworks</a:t>
            </a:r>
            <a:endParaRPr/>
          </a:p>
          <a:p>
            <a:pPr marL="9144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FastAPI, web2py, flask and py4web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Compare and Select Collaboration tools</a:t>
            </a:r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Github as the code repository</a:t>
            </a:r>
            <a:endParaRPr sz="2000">
              <a:solidFill>
                <a:schemeClr val="dk1"/>
              </a:solidFill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Google drive </a:t>
            </a:r>
            <a:r>
              <a:rPr lang="en" sz="2000"/>
              <a:t>for sharing files</a:t>
            </a:r>
            <a:endParaRPr sz="2000">
              <a:solidFill>
                <a:schemeClr val="dk1"/>
              </a:solidFill>
            </a:endParaRPr>
          </a:p>
          <a:p>
            <a:pPr marL="914400" lvl="1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en" sz="2000">
                <a:solidFill>
                  <a:schemeClr val="dk1"/>
                </a:solidFill>
              </a:rPr>
              <a:t>Docs for </a:t>
            </a:r>
            <a:r>
              <a:rPr lang="en" sz="2000"/>
              <a:t>writing collaboration</a:t>
            </a:r>
            <a:endParaRPr sz="2000">
              <a:solidFill>
                <a:schemeClr val="dk1"/>
              </a:solidFill>
            </a:endParaRPr>
          </a:p>
          <a:p>
            <a:pPr marL="914400" lvl="1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en" sz="2000">
                <a:solidFill>
                  <a:schemeClr val="dk1"/>
                </a:solidFill>
              </a:rPr>
              <a:t>Slides for presentation </a:t>
            </a:r>
            <a:r>
              <a:rPr lang="en" sz="2000"/>
              <a:t>collaboration</a:t>
            </a:r>
            <a:endParaRPr sz="2000">
              <a:solidFill>
                <a:schemeClr val="dk1"/>
              </a:solidFill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Text message group chat, Discord server for </a:t>
            </a:r>
            <a:r>
              <a:rPr lang="en" sz="2000"/>
              <a:t>general communication</a:t>
            </a:r>
            <a:endParaRPr sz="2000">
              <a:solidFill>
                <a:schemeClr val="dk1"/>
              </a:solidFill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Google Calendar for sch</a:t>
            </a:r>
            <a:r>
              <a:rPr lang="en" sz="2000"/>
              <a:t>eduling meetings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Technical Challenges</a:t>
            </a:r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body" idx="1"/>
          </p:nvPr>
        </p:nvSpPr>
        <p:spPr>
          <a:xfrm>
            <a:off x="311700" y="1266275"/>
            <a:ext cx="8520600" cy="194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Working with Project Thor’s original website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9144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○"/>
            </a:pPr>
            <a:r>
              <a:rPr lang="en" sz="1800">
                <a:latin typeface="Arial"/>
                <a:ea typeface="Arial"/>
                <a:cs typeface="Arial"/>
                <a:sym typeface="Arial"/>
              </a:rPr>
              <a:t>Key generation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marL="9144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○"/>
            </a:pPr>
            <a:r>
              <a:rPr lang="en" sz="1800">
                <a:latin typeface="Arial"/>
                <a:ea typeface="Arial"/>
                <a:cs typeface="Arial"/>
                <a:sym typeface="Arial"/>
              </a:rPr>
              <a:t>Connecting the database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Task 2: Demos</a:t>
            </a:r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API Frameworks</a:t>
            </a:r>
            <a:endParaRPr/>
          </a:p>
          <a:p>
            <a:pPr marL="9144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Security Features</a:t>
            </a:r>
            <a:endParaRPr sz="1800"/>
          </a:p>
          <a:p>
            <a:pPr marL="9144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Documentation quality</a:t>
            </a:r>
            <a:endParaRPr sz="1800"/>
          </a:p>
          <a:p>
            <a:pPr marL="9144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Database connection</a:t>
            </a:r>
            <a:endParaRPr sz="1800"/>
          </a:p>
          <a:p>
            <a:pPr marL="9144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Performance</a:t>
            </a:r>
            <a:endParaRPr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>
            <a:spLocks noGrp="1"/>
          </p:cNvSpPr>
          <p:nvPr>
            <p:ph type="title"/>
          </p:nvPr>
        </p:nvSpPr>
        <p:spPr>
          <a:xfrm>
            <a:off x="311700" y="981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1: API Hello World via FastAPI</a:t>
            </a:r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FD0C45C-2A58-C067-E48F-FBC3D843F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351" y="782400"/>
            <a:ext cx="5609780" cy="4022950"/>
          </a:xfrm>
          <a:prstGeom prst="rect">
            <a:avLst/>
          </a:prstGeom>
        </p:spPr>
      </p:pic>
      <p:pic>
        <p:nvPicPr>
          <p:cNvPr id="100" name="Google Shape;100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1342700"/>
            <a:ext cx="4316649" cy="161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Task 3: Requirements </a:t>
            </a:r>
            <a:endParaRPr/>
          </a:p>
        </p:txBody>
      </p:sp>
      <p:sp>
        <p:nvSpPr>
          <p:cNvPr id="106" name="Google Shape;106;p20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Specifies functional and non-functional requirements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Aligns team, advisor, and client expectations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Guides design, implementation, and testing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Prevents scope creep and misunderstandings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Serves as the foundation of the project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Task 4: Design </a:t>
            </a:r>
            <a:endParaRPr/>
          </a:p>
        </p:txBody>
      </p:sp>
      <p:sp>
        <p:nvSpPr>
          <p:cNvPr id="112" name="Google Shape;112;p2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Describes how the system will be built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Defines system architecture and components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Explains data flow, APIs, and database structure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Details security mechanisms and technology choices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" sz="2000">
                <a:solidFill>
                  <a:schemeClr val="dk1"/>
                </a:solidFill>
              </a:rPr>
              <a:t>Serves as a blueprint for implementation</a:t>
            </a:r>
            <a:br>
              <a:rPr lang="en" sz="2000">
                <a:solidFill>
                  <a:schemeClr val="dk1"/>
                </a:solidFill>
              </a:rPr>
            </a:b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Design: System Architecture</a:t>
            </a:r>
            <a:endParaRPr/>
          </a:p>
        </p:txBody>
      </p:sp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77200"/>
            <a:ext cx="8520600" cy="39762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Website Layout: Landing Page</a:t>
            </a:r>
            <a:endParaRPr/>
          </a:p>
        </p:txBody>
      </p:sp>
      <p:pic>
        <p:nvPicPr>
          <p:cNvPr id="124" name="Google Shape;12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125" y="1147225"/>
            <a:ext cx="7273750" cy="37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Website Layout: Solution Page</a:t>
            </a:r>
            <a:endParaRPr/>
          </a:p>
        </p:txBody>
      </p:sp>
      <p:pic>
        <p:nvPicPr>
          <p:cNvPr id="130" name="Google Shape;13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9450" y="1126075"/>
            <a:ext cx="6965100" cy="365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Website Layout: API sign in</a:t>
            </a:r>
            <a:endParaRPr/>
          </a:p>
        </p:txBody>
      </p:sp>
      <p:pic>
        <p:nvPicPr>
          <p:cNvPr id="136" name="Google Shape;13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6675" y="1115650"/>
            <a:ext cx="7350650" cy="381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Website Layout: API token generation</a:t>
            </a:r>
            <a:endParaRPr/>
          </a:p>
        </p:txBody>
      </p:sp>
      <p:pic>
        <p:nvPicPr>
          <p:cNvPr id="142" name="Google Shape;14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8750" y="1155300"/>
            <a:ext cx="7186500" cy="375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Website Layout: Contact Page</a:t>
            </a:r>
            <a:endParaRPr/>
          </a:p>
        </p:txBody>
      </p:sp>
      <p:pic>
        <p:nvPicPr>
          <p:cNvPr id="148" name="Google Shape;14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3800" y="1235325"/>
            <a:ext cx="7156400" cy="371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Task 5: Test </a:t>
            </a:r>
            <a:endParaRPr/>
          </a:p>
        </p:txBody>
      </p:sp>
      <p:sp>
        <p:nvSpPr>
          <p:cNvPr id="154" name="Google Shape;154;p2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Defines how system requirements will be verified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Specifies test cases, inputs, and expected outputs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Ensures functionality, security, and performance validation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Identifies success criteria for each feature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Supports debugging and issue tracking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Confirms the system meets project requirements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9"/>
          <p:cNvSpPr txBox="1">
            <a:spLocks noGrp="1"/>
          </p:cNvSpPr>
          <p:nvPr>
            <p:ph type="title"/>
          </p:nvPr>
        </p:nvSpPr>
        <p:spPr>
          <a:xfrm>
            <a:off x="311700" y="1864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Milestone 1 Task Matrix </a:t>
            </a:r>
            <a:endParaRPr/>
          </a:p>
        </p:txBody>
      </p:sp>
      <p:graphicFrame>
        <p:nvGraphicFramePr>
          <p:cNvPr id="160" name="Google Shape;160;p29"/>
          <p:cNvGraphicFramePr/>
          <p:nvPr/>
        </p:nvGraphicFramePr>
        <p:xfrm>
          <a:off x="369450" y="8789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{6AB161CF-73B8-43E8-8068-DB64BA0F7ECB}</a:tableStyleId>
              </a:tblPr>
              <a:tblGrid>
                <a:gridCol w="64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0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0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07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07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07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78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Task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Task Description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Completion 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Joanna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Gianni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Aidan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 Do / Issues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1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Investigate tools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Look into Project Thor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Hello World demos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15%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15%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Adjust as the project is refined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Requirements Document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Adjust as the project is refined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Design Document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Adjust as the project is refined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Test Plan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Adjust as the project is refined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3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Implement, test &amp; demo feature/module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10%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Adjust as the project is refined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63500" marR="63500" marT="63500" marB="63500">
                    <a:lnL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Milestone 2 Tasks Matrix</a:t>
            </a:r>
            <a:endParaRPr/>
          </a:p>
        </p:txBody>
      </p:sp>
      <p:graphicFrame>
        <p:nvGraphicFramePr>
          <p:cNvPr id="166" name="Google Shape;166;p30"/>
          <p:cNvGraphicFramePr/>
          <p:nvPr/>
        </p:nvGraphicFramePr>
        <p:xfrm>
          <a:off x="311700" y="1292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{6AB161CF-73B8-43E8-8068-DB64BA0F7ECB}</a:tableStyleId>
              </a:tblPr>
              <a:tblGrid>
                <a:gridCol w="2247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Task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Aidan</a:t>
                      </a:r>
                      <a:endParaRPr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Gianni</a:t>
                      </a:r>
                      <a:endParaRPr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Joanna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Implement basic Python API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Assist with backend integration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Lead API endpoint development and routing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Document API structure and update design/test docs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Implement basic Post-Quantum (PQ) algorithms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Assist integration with entropy module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Lead implementation of selected PQ algorithms (NIST-aligned)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Research standards and document security rationale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Database security remediation &amp; fixes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Document remediation steps and update security design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Assist with backend security integration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Implement security controls and hardening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1"/>
          <p:cNvSpPr txBox="1">
            <a:spLocks noGrp="1"/>
          </p:cNvSpPr>
          <p:nvPr>
            <p:ph type="title"/>
          </p:nvPr>
        </p:nvSpPr>
        <p:spPr>
          <a:xfrm>
            <a:off x="311700" y="2285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 for your attention.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635</Words>
  <Application>Microsoft Office PowerPoint</Application>
  <PresentationFormat>On-screen Show (16:9)</PresentationFormat>
  <Paragraphs>128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Times New Roman</vt:lpstr>
      <vt:lpstr>Open Sans</vt:lpstr>
      <vt:lpstr>Economica</vt:lpstr>
      <vt:lpstr>Arial</vt:lpstr>
      <vt:lpstr>Luxe</vt:lpstr>
      <vt:lpstr>Project Ragnarok:  Post-Quantum Cybersecurity with Lightning data Milestone 1 Presentation</vt:lpstr>
      <vt:lpstr>Goal Reintroduction</vt:lpstr>
      <vt:lpstr>Task 1: Technical tools</vt:lpstr>
      <vt:lpstr>Compare and Select Collaboration tools</vt:lpstr>
      <vt:lpstr>Technical Challenges</vt:lpstr>
      <vt:lpstr>Task 2: Demos</vt:lpstr>
      <vt:lpstr>Demo 1: API Hello World via FastAPI</vt:lpstr>
      <vt:lpstr>Task 3: Requirements </vt:lpstr>
      <vt:lpstr>Task 4: Design </vt:lpstr>
      <vt:lpstr>Design: System Architecture</vt:lpstr>
      <vt:lpstr>Website Layout: Landing Page</vt:lpstr>
      <vt:lpstr>Website Layout: Solution Page</vt:lpstr>
      <vt:lpstr>Website Layout: API sign in</vt:lpstr>
      <vt:lpstr>Website Layout: API token generation</vt:lpstr>
      <vt:lpstr>Website Layout: Contact Page</vt:lpstr>
      <vt:lpstr>Task 5: Test </vt:lpstr>
      <vt:lpstr>Milestone 1 Task Matrix </vt:lpstr>
      <vt:lpstr>Milestone 2 Tasks Matrix</vt:lpstr>
      <vt:lpstr>Thank you for your attention.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BUBB, GIANNI@2311 Heritage</cp:lastModifiedBy>
  <cp:revision>1</cp:revision>
  <dcterms:modified xsi:type="dcterms:W3CDTF">2026-02-23T04:54:34Z</dcterms:modified>
</cp:coreProperties>
</file>