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y="5143500" cx="9144000"/>
  <p:notesSz cx="6858000" cy="9144000"/>
  <p:embeddedFontLst>
    <p:embeddedFont>
      <p:font typeface="Economica"/>
      <p:regular r:id="rId17"/>
      <p:bold r:id="rId18"/>
      <p:italic r:id="rId19"/>
      <p:boldItalic r:id="rId20"/>
    </p:embeddedFont>
    <p:embeddedFont>
      <p:font typeface="Open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6F04E9-5020-487C-B299-A11F27DC5553}">
  <a:tblStyle styleId="{236F04E9-5020-487C-B299-A11F27DC5553}" styleName="Table_0">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w="6350">
              <a:solidFill>
                <a:srgbClr val="000000"/>
              </a:solidFill>
              <a:prstDash val="solid"/>
              <a:round/>
              <a:headEnd len="sm" w="sm" type="none"/>
              <a:tailEnd len="sm" w="sm" type="none"/>
            </a:ln>
          </a:insideH>
          <a:insideV>
            <a:ln cap="flat" cmpd="sng" w="635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conomica-boldItalic.fntdata"/><Relationship Id="rId11" Type="http://schemas.openxmlformats.org/officeDocument/2006/relationships/slide" Target="slides/slide4.xml"/><Relationship Id="rId22" Type="http://schemas.openxmlformats.org/officeDocument/2006/relationships/font" Target="fonts/OpenSans-bold.fntdata"/><Relationship Id="rId10" Type="http://schemas.openxmlformats.org/officeDocument/2006/relationships/slide" Target="slides/slide3.xml"/><Relationship Id="rId21" Type="http://schemas.openxmlformats.org/officeDocument/2006/relationships/font" Target="fonts/OpenSans-regular.fntdata"/><Relationship Id="rId13" Type="http://schemas.openxmlformats.org/officeDocument/2006/relationships/slide" Target="slides/slide6.xml"/><Relationship Id="rId24" Type="http://schemas.openxmlformats.org/officeDocument/2006/relationships/font" Target="fonts/OpenSans-boldItalic.fntdata"/><Relationship Id="rId12" Type="http://schemas.openxmlformats.org/officeDocument/2006/relationships/slide" Target="slides/slide5.xml"/><Relationship Id="rId23" Type="http://schemas.openxmlformats.org/officeDocument/2006/relationships/font" Target="fonts/Open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font" Target="fonts/Economica-regular.fntdata"/><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font" Target="fonts/Economica-italic.fntdata"/><Relationship Id="rId6" Type="http://schemas.openxmlformats.org/officeDocument/2006/relationships/slideMaster" Target="slideMasters/slideMaster2.xml"/><Relationship Id="rId18" Type="http://schemas.openxmlformats.org/officeDocument/2006/relationships/font" Target="fonts/Economica-bold.fntdata"/><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464d6e54cce73a76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h464d6e54cce73a76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464d6e54cce73a76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464d6e54cce73a76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Joanna led authentication and role checks. Aidan integrated browser and application workflows. Gianni developed the Python API and resolved Rust/Docker build issues. Future work: OAuth2/JWT, rate limiting and Pi endpoint verification.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464d6e54cce73a76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464d6e54cce73a76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Entropy describes how difficult the source is to predict. We assessed one million lightning events before hashing or mixing in operating-system randomness. We tested timestamp low bytes, timestamp low bits and signed-amplitude low bytes separately. The NIST non-IID estimates were 7.2621 bits per 8-bit timestamp sample, 0.8210 bits per 1-bit timestamp sample and 3.6798 bits per 8-bit amplitude sample. These are corpus estimates, not proof of independent samples or a validated secret-key entropy budget.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SHA3 provides deterministic conditioning. Our Toeplitz implementation consumes 128 previously unused source bytes (1,024 input bits) and obtains a fresh 1,279-bit public OS seed to select the matrix for a 256-bit output. We retain the seed, consumed sample range and hashes so the calculation can be reproduced. The seed receives no lightning-entropy credit, and anyone with the complete input and seed can reproduce the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Future work is to confirm sensor and timestamp behavior, assess dependence on unseen data, justify a conservative joint entropy bound, collect genuine restart data and calibrate repetition-count/adaptive-proportion health tests. The present per-symbol estimate alone does not guarantee 256 secret output bits.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 Lightning entropy assessment (October 15, 2026); Toeplitz extraction proof and implementation evidence and provisional source model (October 26, 2026).</a:t>
            </a:r>
            <a:endParaRPr/>
          </a:p>
          <a:p>
            <a:pPr indent="0" lvl="0" marL="0" rtl="0" algn="l">
              <a:spcBef>
                <a:spcPts val="0"/>
              </a:spcBef>
              <a:spcAft>
                <a:spcPts val="0"/>
              </a:spcAft>
              <a:buNone/>
            </a:pPr>
            <a:r>
              <a:rPr lang="en"/>
              <a:t>https://csrc.nist.gov/pubs/sp/800/90/b/final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464d6e54cce73a76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h464d6e54cce73a76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Joanna led database security preparation. Aidan contributed application hardening and integration. Gianni supported Pi deployment and automatic importers. Restricted roles, TLS, telemetry encryption, scrubbed logs and complete hardware operation require verification.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website_screenshot_slide: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website_screenshot_slide: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Screenshot of the running Project Ragnarok website, captured October 26, 2026.</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api_screenshot_slide: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api_screenshot_slide: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Screenshot of the actual FastAPI documentation. The documented POST /request_key endpoint requires an authorization header. The displayed 200 response is a documentation example, not a captured successful request.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h464d6e54cce73a76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h464d6e54cce73a76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 sz="1000">
                <a:latin typeface="Times New Roman"/>
                <a:ea typeface="Times New Roman"/>
                <a:cs typeface="Times New Roman"/>
                <a:sym typeface="Times New Roman"/>
              </a:rPr>
              <a:t>Completion and member percentages reproduce the evaluation. Task 2 reflects entropy/research supporting work, with NIST-approved PQC integration unfinished.</a:t>
            </a:r>
            <a:endParaRPr sz="10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0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 sz="1000">
                <a:latin typeface="Times New Roman"/>
                <a:ea typeface="Times New Roman"/>
                <a:cs typeface="Times New Roman"/>
                <a:sym typeface="Times New Roman"/>
              </a:rPr>
              <a:t>Source: Milestone 5 Progress Evaluation (October 26, 2026)</a:t>
            </a:r>
            <a:endParaRPr sz="10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 sz="1000">
                <a:latin typeface="Times New Roman"/>
                <a:ea typeface="Times New Roman"/>
                <a:cs typeface="Times New Roman"/>
                <a:sym typeface="Times New Roman"/>
              </a:rPr>
              <a:t>https://docs.google.com/document/d/1diCN2Wz454ztZ5JlQbeVHX785ENQ_TKF3QcP85OhsRQ/edit</a:t>
            </a:r>
            <a:endParaRPr sz="1000">
              <a:latin typeface="Times New Roman"/>
              <a:ea typeface="Times New Roman"/>
              <a:cs typeface="Times New Roman"/>
              <a:sym typeface="Times New Roman"/>
            </a:endParaRPr>
          </a:p>
          <a:p>
            <a:pPr indent="0" lvl="0" marL="457200" rtl="0" algn="l">
              <a:lnSpc>
                <a:spcPct val="115000"/>
              </a:lnSpc>
              <a:spcBef>
                <a:spcPts val="1200"/>
              </a:spcBef>
              <a:spcAft>
                <a:spcPts val="1200"/>
              </a:spcAft>
              <a:buNone/>
            </a:pPr>
            <a:r>
              <a:t/>
            </a:r>
            <a:endParaRPr sz="1000">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h7b5cbd2fa13e113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h7b5cbd2fa13e113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 sz="1000">
                <a:latin typeface="Times New Roman"/>
                <a:ea typeface="Times New Roman"/>
                <a:cs typeface="Times New Roman"/>
                <a:sym typeface="Times New Roman"/>
              </a:rPr>
              <a:t>All four next-milestone assignments reproduce the evaluation. Acceptance includes authentication/role tests, PQC interoperability, reproducible assessment and stated entropy assumptions, sustained Pi reliability and load/latency measurements, DB security verification, and an end-to-end demo using the guide.</a:t>
            </a:r>
            <a:endParaRPr sz="10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t/>
            </a:r>
            <a:endParaRPr sz="10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 sz="1000">
                <a:latin typeface="Times New Roman"/>
                <a:ea typeface="Times New Roman"/>
                <a:cs typeface="Times New Roman"/>
                <a:sym typeface="Times New Roman"/>
              </a:rPr>
              <a:t>Source: Milestone 5 Progress Evaluation (October 26, 2026)</a:t>
            </a:r>
            <a:endParaRPr sz="1000">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 sz="1000">
                <a:latin typeface="Times New Roman"/>
                <a:ea typeface="Times New Roman"/>
                <a:cs typeface="Times New Roman"/>
                <a:sym typeface="Times New Roman"/>
              </a:rPr>
              <a:t>https://docs.google.com/document/d/1diCN2Wz454ztZ5JlQbeVHX785ENQ_TKF3QcP85OhsRQ/edit</a:t>
            </a:r>
            <a:endParaRPr sz="1000">
              <a:latin typeface="Times New Roman"/>
              <a:ea typeface="Times New Roman"/>
              <a:cs typeface="Times New Roman"/>
              <a:sym typeface="Times New Roman"/>
            </a:endParaRPr>
          </a:p>
          <a:p>
            <a:pPr indent="0" lvl="0" marL="457200" rtl="0" algn="l">
              <a:lnSpc>
                <a:spcPct val="115000"/>
              </a:lnSpc>
              <a:spcBef>
                <a:spcPts val="1200"/>
              </a:spcBef>
              <a:spcAft>
                <a:spcPts val="1200"/>
              </a:spcAft>
              <a:buNone/>
            </a:pPr>
            <a:r>
              <a:t/>
            </a:r>
            <a:endParaRPr sz="1000">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464d6e54cce73a76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h464d6e54cce73a76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6" name="Google Shape;56;p14"/>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57" name="Google Shape;57;p14"/>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58" name="Google Shape;58;p14"/>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5"/>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2" name="Google Shape;62;p15"/>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63" name="Google Shape;63;p15"/>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68" name="Google Shape;68;p1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9" name="Google Shape;69;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72" name="Google Shape;72;p17"/>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3" name="Google Shape;73;p17"/>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77" name="Google Shape;77;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0" name="Google Shape;80;p19"/>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1" name="Google Shape;8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0"/>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85" name="Google Shape;8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6" name="Shape 86"/>
        <p:cNvGrpSpPr/>
        <p:nvPr/>
      </p:nvGrpSpPr>
      <p:grpSpPr>
        <a:xfrm>
          <a:off x="0" y="0"/>
          <a:ext cx="0" cy="0"/>
          <a:chOff x="0" y="0"/>
          <a:chExt cx="0" cy="0"/>
        </a:xfrm>
      </p:grpSpPr>
      <p:sp>
        <p:nvSpPr>
          <p:cNvPr id="87" name="Google Shape;87;p21"/>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 name="Google Shape;88;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89" name="Google Shape;89;p21"/>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90" name="Google Shape;90;p21"/>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91" name="Google Shape;91;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92" name="Google Shape;92;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3" name="Shape 93"/>
        <p:cNvGrpSpPr/>
        <p:nvPr/>
      </p:nvGrpSpPr>
      <p:grpSpPr>
        <a:xfrm>
          <a:off x="0" y="0"/>
          <a:ext cx="0" cy="0"/>
          <a:chOff x="0" y="0"/>
          <a:chExt cx="0" cy="0"/>
        </a:xfrm>
      </p:grpSpPr>
      <p:sp>
        <p:nvSpPr>
          <p:cNvPr id="94" name="Google Shape;94;p22"/>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95" name="Google Shape;9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6" name="Shape 96"/>
        <p:cNvGrpSpPr/>
        <p:nvPr/>
      </p:nvGrpSpPr>
      <p:grpSpPr>
        <a:xfrm>
          <a:off x="0" y="0"/>
          <a:ext cx="0" cy="0"/>
          <a:chOff x="0" y="0"/>
          <a:chExt cx="0" cy="0"/>
        </a:xfrm>
      </p:grpSpPr>
      <p:sp>
        <p:nvSpPr>
          <p:cNvPr id="97" name="Google Shape;97;p2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3"/>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99" name="Google Shape;99;p23"/>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00" name="Google Shape;10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52" name="Google Shape;52;p13"/>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5"/>
          <p:cNvSpPr txBox="1"/>
          <p:nvPr>
            <p:ph type="ctrTitle"/>
          </p:nvPr>
        </p:nvSpPr>
        <p:spPr>
          <a:xfrm>
            <a:off x="331050" y="1023125"/>
            <a:ext cx="8481900" cy="1960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Project Ragnarok: Milestone 5</a:t>
            </a:r>
            <a:endParaRPr sz="4200">
              <a:latin typeface="Economica"/>
              <a:ea typeface="Economica"/>
              <a:cs typeface="Economica"/>
              <a:sym typeface="Economica"/>
            </a:endParaRPr>
          </a:p>
          <a:p>
            <a:pPr indent="0" lvl="0" marL="0" rtl="0" algn="ctr">
              <a:spcBef>
                <a:spcPts val="0"/>
              </a:spcBef>
              <a:spcAft>
                <a:spcPts val="0"/>
              </a:spcAft>
              <a:buNone/>
            </a:pPr>
            <a:r>
              <a:rPr lang="en" sz="4200">
                <a:latin typeface="Economica"/>
                <a:ea typeface="Economica"/>
                <a:cs typeface="Economica"/>
                <a:sym typeface="Economica"/>
              </a:rPr>
              <a:t>Post-Quantum Cybersecurity with Lightning data</a:t>
            </a:r>
            <a:endParaRPr sz="4200">
              <a:latin typeface="Economica"/>
              <a:ea typeface="Economica"/>
              <a:cs typeface="Economica"/>
              <a:sym typeface="Economica"/>
            </a:endParaRPr>
          </a:p>
        </p:txBody>
      </p:sp>
      <p:sp>
        <p:nvSpPr>
          <p:cNvPr id="108" name="Google Shape;108;p25"/>
          <p:cNvSpPr txBox="1"/>
          <p:nvPr/>
        </p:nvSpPr>
        <p:spPr>
          <a:xfrm>
            <a:off x="2567275" y="2983925"/>
            <a:ext cx="3847200" cy="1291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800">
                <a:solidFill>
                  <a:srgbClr val="000000"/>
                </a:solidFill>
                <a:latin typeface="Economica"/>
                <a:ea typeface="Economica"/>
                <a:cs typeface="Economica"/>
                <a:sym typeface="Economica"/>
              </a:rPr>
              <a:t>Team Members: Joanna Zhang, Gianni Bubb, </a:t>
            </a:r>
            <a:endParaRPr sz="1800">
              <a:solidFill>
                <a:srgbClr val="000000"/>
              </a:solidFill>
              <a:latin typeface="Economica"/>
              <a:ea typeface="Economica"/>
              <a:cs typeface="Economica"/>
              <a:sym typeface="Economica"/>
            </a:endParaRPr>
          </a:p>
          <a:p>
            <a:pPr indent="0" lvl="0" marL="0" rtl="0" algn="ctr">
              <a:lnSpc>
                <a:spcPct val="115000"/>
              </a:lnSpc>
              <a:spcBef>
                <a:spcPts val="0"/>
              </a:spcBef>
              <a:spcAft>
                <a:spcPts val="0"/>
              </a:spcAft>
              <a:buNone/>
            </a:pPr>
            <a:r>
              <a:rPr lang="en" sz="1800">
                <a:solidFill>
                  <a:srgbClr val="000000"/>
                </a:solidFill>
                <a:latin typeface="Economica"/>
                <a:ea typeface="Economica"/>
                <a:cs typeface="Economica"/>
                <a:sym typeface="Economica"/>
              </a:rPr>
              <a:t>Aidan Nelappana</a:t>
            </a:r>
            <a:endParaRPr sz="1800">
              <a:solidFill>
                <a:srgbClr val="000000"/>
              </a:solidFill>
              <a:latin typeface="Economica"/>
              <a:ea typeface="Economica"/>
              <a:cs typeface="Economica"/>
              <a:sym typeface="Economica"/>
            </a:endParaRPr>
          </a:p>
          <a:p>
            <a:pPr indent="0" lvl="0" marL="0" rtl="0" algn="ctr">
              <a:lnSpc>
                <a:spcPct val="115000"/>
              </a:lnSpc>
              <a:spcBef>
                <a:spcPts val="0"/>
              </a:spcBef>
              <a:spcAft>
                <a:spcPts val="0"/>
              </a:spcAft>
              <a:buNone/>
            </a:pPr>
            <a:r>
              <a:rPr lang="en" sz="1800">
                <a:solidFill>
                  <a:srgbClr val="000000"/>
                </a:solidFill>
                <a:latin typeface="Economica"/>
                <a:ea typeface="Economica"/>
                <a:cs typeface="Economica"/>
                <a:sym typeface="Economica"/>
              </a:rPr>
              <a:t>Faculty Advisor and Client: Dr. Bhattacharyya </a:t>
            </a:r>
            <a:endParaRPr sz="1800">
              <a:solidFill>
                <a:srgbClr val="000000"/>
              </a:solidFill>
              <a:latin typeface="Economica"/>
              <a:ea typeface="Economica"/>
              <a:cs typeface="Economica"/>
              <a:sym typeface="Economica"/>
            </a:endParaRPr>
          </a:p>
          <a:p>
            <a:pPr indent="0" lvl="0" marL="0" rtl="0" algn="ctr">
              <a:lnSpc>
                <a:spcPct val="115000"/>
              </a:lnSpc>
              <a:spcBef>
                <a:spcPts val="0"/>
              </a:spcBef>
              <a:spcAft>
                <a:spcPts val="0"/>
              </a:spcAft>
              <a:buNone/>
            </a:pPr>
            <a:r>
              <a:rPr lang="en" sz="1800">
                <a:solidFill>
                  <a:schemeClr val="dk1"/>
                </a:solidFill>
                <a:latin typeface="Economica"/>
                <a:ea typeface="Economica"/>
                <a:cs typeface="Economica"/>
                <a:sym typeface="Economica"/>
              </a:rPr>
              <a:t>Dr. Amitabh Nag</a:t>
            </a:r>
            <a:endParaRPr sz="1800">
              <a:latin typeface="Economica"/>
              <a:ea typeface="Economica"/>
              <a:cs typeface="Economica"/>
              <a:sym typeface="Economic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API authentication and integration</a:t>
            </a:r>
            <a:endParaRPr/>
          </a:p>
        </p:txBody>
      </p:sp>
      <p:sp>
        <p:nvSpPr>
          <p:cNvPr id="114" name="Google Shape;114;p26"/>
          <p:cNvSpPr txBox="1"/>
          <p:nvPr/>
        </p:nvSpPr>
        <p:spPr>
          <a:xfrm>
            <a:off x="317500" y="1219200"/>
            <a:ext cx="8508900" cy="3352800"/>
          </a:xfrm>
          <a:prstGeom prst="rect">
            <a:avLst/>
          </a:prstGeom>
          <a:noFill/>
          <a:ln>
            <a:noFill/>
          </a:ln>
        </p:spPr>
        <p:txBody>
          <a:bodyPr anchorCtr="0" anchor="t" bIns="91425" lIns="91425" spcFirstLastPara="1" rIns="91425" wrap="square" tIns="91425">
            <a:noAutofit/>
          </a:bodyPr>
          <a:lstStyle/>
          <a:p>
            <a:pPr indent="-342900" lvl="0" marL="457200" rtl="0" algn="l">
              <a:lnSpc>
                <a:spcPct val="110000"/>
              </a:lnSpc>
              <a:spcBef>
                <a:spcPts val="0"/>
              </a:spcBef>
              <a:spcAft>
                <a:spcPts val="0"/>
              </a:spcAft>
              <a:buSzPts val="1800"/>
              <a:buChar char="●"/>
            </a:pPr>
            <a:r>
              <a:rPr lang="en" sz="1800"/>
              <a:t>Implemented bearer-token authentication, role checks, and browser login.</a:t>
            </a:r>
            <a:endParaRPr sz="1800"/>
          </a:p>
          <a:p>
            <a:pPr indent="-342900" lvl="0" marL="457200" rtl="0" algn="l">
              <a:lnSpc>
                <a:spcPct val="110000"/>
              </a:lnSpc>
              <a:spcBef>
                <a:spcPts val="0"/>
              </a:spcBef>
              <a:spcAft>
                <a:spcPts val="0"/>
              </a:spcAft>
              <a:buSzPts val="1800"/>
              <a:buChar char="●"/>
            </a:pPr>
            <a:r>
              <a:rPr lang="en" sz="1800"/>
              <a:t>Integrated the Python API and fixed Rust/Docker build issues.</a:t>
            </a:r>
            <a:endParaRPr sz="1800"/>
          </a:p>
          <a:p>
            <a:pPr indent="-342900" lvl="0" marL="457200" rtl="0" algn="l">
              <a:lnSpc>
                <a:spcPct val="110000"/>
              </a:lnSpc>
              <a:spcBef>
                <a:spcPts val="0"/>
              </a:spcBef>
              <a:spcAft>
                <a:spcPts val="0"/>
              </a:spcAft>
              <a:buSzPts val="1800"/>
              <a:buChar char="●"/>
            </a:pPr>
            <a:r>
              <a:rPr lang="en" sz="1800"/>
              <a:t>Next: complete OAuth2/JWT, rate limiting, and API testing on the Pi.</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7"/>
          <p:cNvSpPr txBox="1"/>
          <p:nvPr>
            <p:ph type="title"/>
          </p:nvPr>
        </p:nvSpPr>
        <p:spPr>
          <a:xfrm>
            <a:off x="311700" y="315925"/>
            <a:ext cx="86889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3780"/>
              <a:t>Entropy assessment and extraction</a:t>
            </a:r>
            <a:endParaRPr sz="3780"/>
          </a:p>
        </p:txBody>
      </p:sp>
      <p:sp>
        <p:nvSpPr>
          <p:cNvPr id="120" name="Google Shape;120;p27"/>
          <p:cNvSpPr txBox="1"/>
          <p:nvPr/>
        </p:nvSpPr>
        <p:spPr>
          <a:xfrm>
            <a:off x="317500" y="1219200"/>
            <a:ext cx="8508900" cy="3352800"/>
          </a:xfrm>
          <a:prstGeom prst="rect">
            <a:avLst/>
          </a:prstGeom>
          <a:noFill/>
          <a:ln>
            <a:noFill/>
          </a:ln>
        </p:spPr>
        <p:txBody>
          <a:bodyPr anchorCtr="0" anchor="t" bIns="91425" lIns="91425" spcFirstLastPara="1" rIns="91425" wrap="square" tIns="91425">
            <a:noAutofit/>
          </a:bodyPr>
          <a:lstStyle/>
          <a:p>
            <a:pPr indent="-342900" lvl="0" marL="457200" rtl="0" algn="l">
              <a:lnSpc>
                <a:spcPct val="110000"/>
              </a:lnSpc>
              <a:spcBef>
                <a:spcPts val="0"/>
              </a:spcBef>
              <a:spcAft>
                <a:spcPts val="0"/>
              </a:spcAft>
              <a:buSzPts val="1800"/>
              <a:buChar char="●"/>
            </a:pPr>
            <a:r>
              <a:rPr lang="en" sz="1800"/>
              <a:t>Assessed 1,000,000 lightning events with the NIST non-IID tool to estimate unpredictability.</a:t>
            </a:r>
            <a:endParaRPr sz="1800"/>
          </a:p>
          <a:p>
            <a:pPr indent="-342900" lvl="0" marL="457200" rtl="0" algn="l">
              <a:lnSpc>
                <a:spcPct val="110000"/>
              </a:lnSpc>
              <a:spcBef>
                <a:spcPts val="0"/>
              </a:spcBef>
              <a:spcAft>
                <a:spcPts val="0"/>
              </a:spcAft>
              <a:buSzPts val="1800"/>
              <a:buChar char="●"/>
            </a:pPr>
            <a:r>
              <a:rPr lang="en" sz="1800"/>
              <a:t>Timestamp bytes: 7.2621 bits per 8-bit sample. Amplitude bytes: 3.6798. These estimates cannot simply be added.</a:t>
            </a:r>
            <a:endParaRPr sz="1800"/>
          </a:p>
          <a:p>
            <a:pPr indent="-342900" lvl="0" marL="457200" rtl="0" algn="l">
              <a:lnSpc>
                <a:spcPct val="110000"/>
              </a:lnSpc>
              <a:spcBef>
                <a:spcPts val="0"/>
              </a:spcBef>
              <a:spcAft>
                <a:spcPts val="0"/>
              </a:spcAft>
              <a:buSzPts val="1800"/>
              <a:buChar char="●"/>
            </a:pPr>
            <a:r>
              <a:rPr lang="en" sz="1800"/>
              <a:t>Implemented SHA3 and Toeplitz extraction. Toeplitz converts 128 source bytes into 256 output bits using a fresh public seed.</a:t>
            </a:r>
            <a:endParaRPr sz="1800"/>
          </a:p>
          <a:p>
            <a:pPr indent="-342900" lvl="0" marL="457200" rtl="0" algn="l">
              <a:lnSpc>
                <a:spcPct val="110000"/>
              </a:lnSpc>
              <a:spcBef>
                <a:spcPts val="0"/>
              </a:spcBef>
              <a:spcAft>
                <a:spcPts val="0"/>
              </a:spcAft>
              <a:buSzPts val="1800"/>
              <a:buChar char="●"/>
            </a:pPr>
            <a:r>
              <a:rPr lang="en" sz="1800"/>
              <a:t>Next: validate dependence and joint input entropy, collect restart data, and add source-health tests.</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a:t>Database security and Raspberry Pi</a:t>
            </a:r>
            <a:endParaRPr/>
          </a:p>
        </p:txBody>
      </p:sp>
      <p:sp>
        <p:nvSpPr>
          <p:cNvPr id="126" name="Google Shape;126;p28"/>
          <p:cNvSpPr txBox="1"/>
          <p:nvPr/>
        </p:nvSpPr>
        <p:spPr>
          <a:xfrm>
            <a:off x="317500" y="1219200"/>
            <a:ext cx="8508900" cy="3352800"/>
          </a:xfrm>
          <a:prstGeom prst="rect">
            <a:avLst/>
          </a:prstGeom>
          <a:noFill/>
          <a:ln>
            <a:noFill/>
          </a:ln>
        </p:spPr>
        <p:txBody>
          <a:bodyPr anchorCtr="0" anchor="t" bIns="91425" lIns="91425" spcFirstLastPara="1" rIns="91425" wrap="square" tIns="91425">
            <a:noAutofit/>
          </a:bodyPr>
          <a:lstStyle/>
          <a:p>
            <a:pPr indent="-342900" lvl="0" marL="457200" rtl="0" algn="l">
              <a:lnSpc>
                <a:spcPct val="110000"/>
              </a:lnSpc>
              <a:spcBef>
                <a:spcPts val="0"/>
              </a:spcBef>
              <a:spcAft>
                <a:spcPts val="0"/>
              </a:spcAft>
              <a:buSzPts val="1800"/>
              <a:buChar char="●"/>
            </a:pPr>
            <a:r>
              <a:rPr lang="en" sz="1800"/>
              <a:t>Added parameterized queries, input validation, and application access controls.</a:t>
            </a:r>
            <a:endParaRPr sz="1800"/>
          </a:p>
          <a:p>
            <a:pPr indent="-342900" lvl="0" marL="457200" rtl="0" algn="l">
              <a:lnSpc>
                <a:spcPct val="110000"/>
              </a:lnSpc>
              <a:spcBef>
                <a:spcPts val="0"/>
              </a:spcBef>
              <a:spcAft>
                <a:spcPts val="0"/>
              </a:spcAft>
              <a:buSzPts val="1800"/>
              <a:buChar char="●"/>
            </a:pPr>
            <a:r>
              <a:rPr lang="en" sz="1800"/>
              <a:t>Loaded the updated application on the Pi and got automatic importers working.</a:t>
            </a:r>
            <a:endParaRPr sz="1800"/>
          </a:p>
          <a:p>
            <a:pPr indent="-342900" lvl="0" marL="457200" rtl="0" algn="l">
              <a:lnSpc>
                <a:spcPct val="110000"/>
              </a:lnSpc>
              <a:spcBef>
                <a:spcPts val="0"/>
              </a:spcBef>
              <a:spcAft>
                <a:spcPts val="0"/>
              </a:spcAft>
              <a:buSzPts val="1800"/>
              <a:buChar char="●"/>
            </a:pPr>
            <a:r>
              <a:rPr lang="en" sz="1800"/>
              <a:t>Next: verify DB roles, TLS, telemetry encryption, logs, and full Pi operation.</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Project website</a:t>
            </a:r>
            <a:endParaRPr/>
          </a:p>
        </p:txBody>
      </p:sp>
      <p:pic>
        <p:nvPicPr>
          <p:cNvPr id="132" name="Google Shape;132;p29"/>
          <p:cNvPicPr preferRelativeResize="0"/>
          <p:nvPr/>
        </p:nvPicPr>
        <p:blipFill>
          <a:blip r:embed="rId3">
            <a:alphaModFix/>
          </a:blip>
          <a:stretch>
            <a:fillRect/>
          </a:stretch>
        </p:blipFill>
        <p:spPr>
          <a:xfrm>
            <a:off x="1644316" y="990600"/>
            <a:ext cx="5855368" cy="4000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Python API documentation</a:t>
            </a:r>
            <a:endParaRPr/>
          </a:p>
        </p:txBody>
      </p:sp>
      <p:pic>
        <p:nvPicPr>
          <p:cNvPr id="138" name="Google Shape;138;p30"/>
          <p:cNvPicPr preferRelativeResize="0"/>
          <p:nvPr/>
        </p:nvPicPr>
        <p:blipFill>
          <a:blip r:embed="rId3">
            <a:alphaModFix/>
          </a:blip>
          <a:stretch>
            <a:fillRect/>
          </a:stretch>
        </p:blipFill>
        <p:spPr>
          <a:xfrm>
            <a:off x="1016000" y="990600"/>
            <a:ext cx="7112000" cy="4000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Milestone 5 Matrix</a:t>
            </a:r>
            <a:endParaRPr/>
          </a:p>
        </p:txBody>
      </p:sp>
      <p:graphicFrame>
        <p:nvGraphicFramePr>
          <p:cNvPr id="144" name="Google Shape;144;p31"/>
          <p:cNvGraphicFramePr/>
          <p:nvPr/>
        </p:nvGraphicFramePr>
        <p:xfrm>
          <a:off x="311700" y="1147225"/>
          <a:ext cx="3000000" cy="3000000"/>
        </p:xfrm>
        <a:graphic>
          <a:graphicData uri="http://schemas.openxmlformats.org/drawingml/2006/table">
            <a:tbl>
              <a:tblPr>
                <a:noFill/>
                <a:tableStyleId>{236F04E9-5020-487C-B299-A11F27DC5553}</a:tableStyleId>
              </a:tblPr>
              <a:tblGrid>
                <a:gridCol w="2286000"/>
                <a:gridCol w="698500"/>
                <a:gridCol w="698500"/>
                <a:gridCol w="698500"/>
                <a:gridCol w="4127500"/>
              </a:tblGrid>
              <a:tr h="355600">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Task / completion</a:t>
                      </a:r>
                      <a:endParaRPr b="1"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Aidan</a:t>
                      </a:r>
                      <a:endParaRPr b="1"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Gianni</a:t>
                      </a:r>
                      <a:endParaRPr b="1"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Joanna</a:t>
                      </a:r>
                      <a:endParaRPr b="1"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To Do</a:t>
                      </a:r>
                      <a:endParaRPr b="1"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9779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1. API authentication</a:t>
                      </a:r>
                      <a:endParaRPr sz="1300">
                        <a:latin typeface="Times New Roman"/>
                        <a:ea typeface="Times New Roman"/>
                        <a:cs typeface="Times New Roman"/>
                        <a:sym typeface="Times New Roman"/>
                      </a:endParaRPr>
                    </a:p>
                    <a:p>
                      <a:pPr indent="0" lvl="0" marL="0" rtl="0" algn="l">
                        <a:spcBef>
                          <a:spcPts val="0"/>
                        </a:spcBef>
                        <a:spcAft>
                          <a:spcPts val="0"/>
                        </a:spcAft>
                        <a:buNone/>
                      </a:pPr>
                      <a:r>
                        <a:rPr lang="en" sz="1300">
                          <a:latin typeface="Times New Roman"/>
                          <a:ea typeface="Times New Roman"/>
                          <a:cs typeface="Times New Roman"/>
                          <a:sym typeface="Times New Roman"/>
                        </a:rPr>
                        <a:t>70% complete</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15%</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45%</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10%</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Complete OAuth2/JWT, rate limiting, and Pi endpoint verification.</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9779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2. Entropy assessment and research website</a:t>
                      </a:r>
                      <a:endParaRPr sz="1300">
                        <a:latin typeface="Times New Roman"/>
                        <a:ea typeface="Times New Roman"/>
                        <a:cs typeface="Times New Roman"/>
                        <a:sym typeface="Times New Roman"/>
                      </a:endParaRPr>
                    </a:p>
                    <a:p>
                      <a:pPr indent="0" lvl="0" marL="0" rtl="0" algn="l">
                        <a:spcBef>
                          <a:spcPts val="0"/>
                        </a:spcBef>
                        <a:spcAft>
                          <a:spcPts val="0"/>
                        </a:spcAft>
                        <a:buNone/>
                      </a:pPr>
                      <a:r>
                        <a:rPr lang="en" sz="1300">
                          <a:latin typeface="Times New Roman"/>
                          <a:ea typeface="Times New Roman"/>
                          <a:cs typeface="Times New Roman"/>
                          <a:sym typeface="Times New Roman"/>
                        </a:rPr>
                        <a:t>80% complete</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60%</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10%</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10%</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Integrate and test a NIST-approved PQC scheme. Extraction is supporting work.</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977900">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3. Database security and Pi deployment</a:t>
                      </a:r>
                      <a:endParaRPr sz="1300">
                        <a:latin typeface="Times New Roman"/>
                        <a:ea typeface="Times New Roman"/>
                        <a:cs typeface="Times New Roman"/>
                        <a:sym typeface="Times New Roman"/>
                      </a:endParaRPr>
                    </a:p>
                    <a:p>
                      <a:pPr indent="0" lvl="0" marL="0" rtl="0" algn="l">
                        <a:spcBef>
                          <a:spcPts val="0"/>
                        </a:spcBef>
                        <a:spcAft>
                          <a:spcPts val="0"/>
                        </a:spcAft>
                        <a:buNone/>
                      </a:pPr>
                      <a:r>
                        <a:rPr lang="en" sz="1300">
                          <a:latin typeface="Times New Roman"/>
                          <a:ea typeface="Times New Roman"/>
                          <a:cs typeface="Times New Roman"/>
                          <a:sym typeface="Times New Roman"/>
                        </a:rPr>
                        <a:t>70% complete</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30%</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20%</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20%</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latin typeface="Times New Roman"/>
                          <a:ea typeface="Times New Roman"/>
                          <a:cs typeface="Times New Roman"/>
                          <a:sym typeface="Times New Roman"/>
                        </a:rPr>
                        <a:t>Verify restricted DB roles, TLS, telemetry encryption, and scrubbed audit logs.</a:t>
                      </a:r>
                      <a:endParaRPr sz="13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Milestone 6 Matrix</a:t>
            </a:r>
            <a:endParaRPr/>
          </a:p>
        </p:txBody>
      </p:sp>
      <p:graphicFrame>
        <p:nvGraphicFramePr>
          <p:cNvPr id="150" name="Google Shape;150;p32"/>
          <p:cNvGraphicFramePr/>
          <p:nvPr/>
        </p:nvGraphicFramePr>
        <p:xfrm>
          <a:off x="311700" y="1147225"/>
          <a:ext cx="3000000" cy="3000000"/>
        </p:xfrm>
        <a:graphic>
          <a:graphicData uri="http://schemas.openxmlformats.org/drawingml/2006/table">
            <a:tbl>
              <a:tblPr>
                <a:noFill/>
                <a:tableStyleId>{236F04E9-5020-487C-B299-A11F27DC5553}</a:tableStyleId>
              </a:tblPr>
              <a:tblGrid>
                <a:gridCol w="2921000"/>
                <a:gridCol w="1866900"/>
                <a:gridCol w="1866900"/>
                <a:gridCol w="1854200"/>
              </a:tblGrid>
              <a:tr h="355600">
                <a:tc>
                  <a:txBody>
                    <a:bodyPr/>
                    <a:lstStyle/>
                    <a:p>
                      <a:pPr indent="0" lvl="0" marL="0" rtl="0" algn="ctr">
                        <a:spcBef>
                          <a:spcPts val="0"/>
                        </a:spcBef>
                        <a:spcAft>
                          <a:spcPts val="0"/>
                        </a:spcAft>
                        <a:buNone/>
                      </a:pPr>
                      <a:r>
                        <a:rPr b="1" lang="en" sz="1500">
                          <a:latin typeface="Times New Roman"/>
                          <a:ea typeface="Times New Roman"/>
                          <a:cs typeface="Times New Roman"/>
                          <a:sym typeface="Times New Roman"/>
                        </a:rPr>
                        <a:t>Task</a:t>
                      </a:r>
                      <a:endParaRPr b="1"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500">
                          <a:latin typeface="Times New Roman"/>
                          <a:ea typeface="Times New Roman"/>
                          <a:cs typeface="Times New Roman"/>
                          <a:sym typeface="Times New Roman"/>
                        </a:rPr>
                        <a:t>Aidan</a:t>
                      </a:r>
                      <a:endParaRPr b="1"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500">
                          <a:latin typeface="Times New Roman"/>
                          <a:ea typeface="Times New Roman"/>
                          <a:cs typeface="Times New Roman"/>
                          <a:sym typeface="Times New Roman"/>
                        </a:rPr>
                        <a:t>Gianni</a:t>
                      </a:r>
                      <a:endParaRPr b="1"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en" sz="1500">
                          <a:latin typeface="Times New Roman"/>
                          <a:ea typeface="Times New Roman"/>
                          <a:cs typeface="Times New Roman"/>
                          <a:sym typeface="Times New Roman"/>
                        </a:rPr>
                        <a:t>Joanna</a:t>
                      </a:r>
                      <a:endParaRPr b="1"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762000">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1. Complete authentication and PQC</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Key pipeline/PQC</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Python API/JWT</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RBAC/auth tests</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762000">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2. Finalize entropy research and validation</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Lead assessment</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Pi data collection</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Dataset validation</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762000">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3. Validate Pi deployment and security</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Integration fixes</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Lead Pi testing</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Lead DB security</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762000">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4. Finish GUI, documentation, and demo</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GUI/manual/demo</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Setup/runbook</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Times New Roman"/>
                          <a:ea typeface="Times New Roman"/>
                          <a:cs typeface="Times New Roman"/>
                          <a:sym typeface="Times New Roman"/>
                        </a:rPr>
                        <a:t>Usability/review</a:t>
                      </a:r>
                      <a:endParaRPr sz="1500">
                        <a:latin typeface="Times New Roman"/>
                        <a:ea typeface="Times New Roman"/>
                        <a:cs typeface="Times New Roman"/>
                        <a:sym typeface="Times New Roman"/>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Thank you for your attention.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