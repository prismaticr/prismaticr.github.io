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5"/>
    <p:sldMasterId id="214748367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Lst>
  <p:sldSz cy="5143500" cx="9144000"/>
  <p:notesSz cx="6858000" cy="9144000"/>
  <p:embeddedFontLst>
    <p:embeddedFont>
      <p:font typeface="Economica"/>
      <p:regular r:id="rId17"/>
      <p:bold r:id="rId18"/>
      <p:italic r:id="rId19"/>
      <p:boldItalic r:id="rId20"/>
    </p:embeddedFont>
    <p:embeddedFont>
      <p:font typeface="Open Sans"/>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62DCEE4-3205-422B-AC97-C0F56D87B947}">
  <a:tblStyle styleId="{462DCEE4-3205-422B-AC97-C0F56D87B947}" styleName="Table_0">
    <a:wholeTbl>
      <a:tcTxStyle>
        <a:font>
          <a:latin typeface="Arial"/>
          <a:ea typeface="Arial"/>
          <a:cs typeface="Arial"/>
        </a:font>
        <a:srgbClr val="000000"/>
      </a:tcTxStyle>
      <a:tcStyle>
        <a:tcBdr>
          <a:left>
            <a:ln cap="flat" cmpd="sng" w="6350">
              <a:solidFill>
                <a:srgbClr val="000000"/>
              </a:solidFill>
              <a:prstDash val="solid"/>
              <a:round/>
              <a:headEnd len="sm" w="sm" type="none"/>
              <a:tailEnd len="sm" w="sm" type="none"/>
            </a:ln>
          </a:left>
          <a:right>
            <a:ln cap="flat" cmpd="sng" w="6350">
              <a:solidFill>
                <a:srgbClr val="000000"/>
              </a:solidFill>
              <a:prstDash val="solid"/>
              <a:round/>
              <a:headEnd len="sm" w="sm" type="none"/>
              <a:tailEnd len="sm" w="sm" type="none"/>
            </a:ln>
          </a:right>
          <a:top>
            <a:ln cap="flat" cmpd="sng" w="6350">
              <a:solidFill>
                <a:srgbClr val="000000"/>
              </a:solidFill>
              <a:prstDash val="solid"/>
              <a:round/>
              <a:headEnd len="sm" w="sm" type="none"/>
              <a:tailEnd len="sm" w="sm" type="none"/>
            </a:ln>
          </a:top>
          <a:bottom>
            <a:ln cap="flat" cmpd="sng" w="6350">
              <a:solidFill>
                <a:srgbClr val="000000"/>
              </a:solidFill>
              <a:prstDash val="solid"/>
              <a:round/>
              <a:headEnd len="sm" w="sm" type="none"/>
              <a:tailEnd len="sm" w="sm" type="none"/>
            </a:ln>
          </a:bottom>
          <a:insideH>
            <a:ln cap="flat" cmpd="sng" w="6350">
              <a:solidFill>
                <a:srgbClr val="000000"/>
              </a:solidFill>
              <a:prstDash val="solid"/>
              <a:round/>
              <a:headEnd len="sm" w="sm" type="none"/>
              <a:tailEnd len="sm" w="sm" type="none"/>
            </a:ln>
          </a:insideH>
          <a:insideV>
            <a:ln cap="flat" cmpd="sng" w="6350">
              <a:solidFill>
                <a:srgbClr val="000000"/>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Economica-boldItalic.fntdata"/><Relationship Id="rId11" Type="http://schemas.openxmlformats.org/officeDocument/2006/relationships/slide" Target="slides/slide4.xml"/><Relationship Id="rId22" Type="http://schemas.openxmlformats.org/officeDocument/2006/relationships/font" Target="fonts/OpenSans-bold.fntdata"/><Relationship Id="rId10" Type="http://schemas.openxmlformats.org/officeDocument/2006/relationships/slide" Target="slides/slide3.xml"/><Relationship Id="rId21" Type="http://schemas.openxmlformats.org/officeDocument/2006/relationships/font" Target="fonts/OpenSans-regular.fntdata"/><Relationship Id="rId13" Type="http://schemas.openxmlformats.org/officeDocument/2006/relationships/slide" Target="slides/slide6.xml"/><Relationship Id="rId24" Type="http://schemas.openxmlformats.org/officeDocument/2006/relationships/font" Target="fonts/OpenSans-boldItalic.fntdata"/><Relationship Id="rId12" Type="http://schemas.openxmlformats.org/officeDocument/2006/relationships/slide" Target="slides/slide5.xml"/><Relationship Id="rId23" Type="http://schemas.openxmlformats.org/officeDocument/2006/relationships/font" Target="fonts/OpenSans-italic.fntdata"/><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font" Target="fonts/Economica-regular.fntdata"/><Relationship Id="rId16" Type="http://schemas.openxmlformats.org/officeDocument/2006/relationships/slide" Target="slides/slide9.xml"/><Relationship Id="rId5" Type="http://schemas.openxmlformats.org/officeDocument/2006/relationships/slideMaster" Target="slideMasters/slideMaster1.xml"/><Relationship Id="rId19" Type="http://schemas.openxmlformats.org/officeDocument/2006/relationships/font" Target="fonts/Economica-italic.fntdata"/><Relationship Id="rId6" Type="http://schemas.openxmlformats.org/officeDocument/2006/relationships/slideMaster" Target="slideMasters/slideMaster2.xml"/><Relationship Id="rId18" Type="http://schemas.openxmlformats.org/officeDocument/2006/relationships/font" Target="fonts/Economica-bold.fntdata"/><Relationship Id="rId7" Type="http://schemas.openxmlformats.org/officeDocument/2006/relationships/notesMaster" Target="notesMasters/notesMaster1.xml"/><Relationship Id="rId8"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h464d6e54cce73a76_0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h464d6e54cce73a76_0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464d6e54cce73a76_0_2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464d6e54cce73a76_0_2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Joanna led authentication and role checks. Aidan integrated browser and application workflows. Gianni developed the Python API and resolved Rust/Docker build issues. Future work: OAuth2/JWT, rate limiting and Pi endpoint verification.</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h464d6e54cce73a76_0_3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h464d6e54cce73a76_0_3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NIST non-IID reference tool assessed the same first million lightning events using timestamp-byte, timestamp-bit and signed-amplitude-byte representations. The timestamp-byte estimate was 7.2620876454 bits per 8-bit sample. It is not a validated joint block entropy bound. SHA3 and Toeplitz output/provenance were implemented. Source-model validation and PQC integration remain future work.</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h464d6e54cce73a76_0_3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h464d6e54cce73a76_0_3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Joanna led database security preparation. Aidan contributed application hardening and integration. Gianni supported Pi deployment and automatic importers. Restricted roles, TLS, telemetry encryption, scrubbed logs and complete hardware operation require verification.</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website_screenshot_slide: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 name="Google Shape;129;website_screenshot_slide: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Screenshot of the running Project Ragnarok website, captured October 26, 2026.</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api_screenshot_slide: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api_screenshot_slide: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Screenshot of the actual FastAPI documentation. The documented POST /request_key endpoint requires an authorization header. The displayed 200 response is a documentation example, not a captured successful request.</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h464d6e54cce73a76_0_2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h464d6e54cce73a76_0_2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457200" rtl="0" algn="l">
              <a:lnSpc>
                <a:spcPct val="115000"/>
              </a:lnSpc>
              <a:spcBef>
                <a:spcPts val="0"/>
              </a:spcBef>
              <a:spcAft>
                <a:spcPts val="0"/>
              </a:spcAft>
              <a:buNone/>
            </a:pPr>
            <a:r>
              <a:rPr lang="en" sz="1000">
                <a:latin typeface="Times New Roman"/>
                <a:ea typeface="Times New Roman"/>
                <a:cs typeface="Times New Roman"/>
                <a:sym typeface="Times New Roman"/>
              </a:rPr>
              <a:t>Completion and member percentages reproduce the evaluation. Task 2 reflects entropy/research supporting work, with NIST-approved PQC integration unfinished.</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0"/>
              </a:spcAft>
              <a:buNone/>
            </a:pPr>
            <a:r>
              <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0"/>
              </a:spcAft>
              <a:buNone/>
            </a:pPr>
            <a:r>
              <a:rPr lang="en" sz="1000">
                <a:latin typeface="Times New Roman"/>
                <a:ea typeface="Times New Roman"/>
                <a:cs typeface="Times New Roman"/>
                <a:sym typeface="Times New Roman"/>
              </a:rPr>
              <a:t>Source: Milestone 5 Progress Evaluation (October 26, 2026)</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0"/>
              </a:spcAft>
              <a:buNone/>
            </a:pPr>
            <a:r>
              <a:rPr lang="en" sz="1000">
                <a:latin typeface="Times New Roman"/>
                <a:ea typeface="Times New Roman"/>
                <a:cs typeface="Times New Roman"/>
                <a:sym typeface="Times New Roman"/>
              </a:rPr>
              <a:t>https://docs.google.com/document/d/1diCN2Wz454ztZ5JlQbeVHX785ENQ_TKF3QcP85OhsRQ/edit</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1200"/>
              </a:spcAft>
              <a:buNone/>
            </a:pPr>
            <a:r>
              <a:t/>
            </a:r>
            <a:endParaRPr sz="1000">
              <a:latin typeface="Times New Roman"/>
              <a:ea typeface="Times New Roman"/>
              <a:cs typeface="Times New Roman"/>
              <a:sym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h7b5cbd2fa13e1131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h7b5cbd2fa13e113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457200" rtl="0" algn="l">
              <a:lnSpc>
                <a:spcPct val="115000"/>
              </a:lnSpc>
              <a:spcBef>
                <a:spcPts val="0"/>
              </a:spcBef>
              <a:spcAft>
                <a:spcPts val="0"/>
              </a:spcAft>
              <a:buNone/>
            </a:pPr>
            <a:r>
              <a:rPr lang="en" sz="1000">
                <a:latin typeface="Times New Roman"/>
                <a:ea typeface="Times New Roman"/>
                <a:cs typeface="Times New Roman"/>
                <a:sym typeface="Times New Roman"/>
              </a:rPr>
              <a:t>All four next-milestone assignments reproduce the evaluation. Acceptance includes authentication/role tests, PQC interoperability, reproducible assessment and stated entropy assumptions, sustained Pi reliability and load/latency measurements, DB security verification, and an end-to-end demo using the guide.</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0"/>
              </a:spcAft>
              <a:buNone/>
            </a:pPr>
            <a:r>
              <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0"/>
              </a:spcAft>
              <a:buNone/>
            </a:pPr>
            <a:r>
              <a:rPr lang="en" sz="1000">
                <a:latin typeface="Times New Roman"/>
                <a:ea typeface="Times New Roman"/>
                <a:cs typeface="Times New Roman"/>
                <a:sym typeface="Times New Roman"/>
              </a:rPr>
              <a:t>Source: Milestone 5 Progress Evaluation (October 26, 2026)</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0"/>
              </a:spcAft>
              <a:buNone/>
            </a:pPr>
            <a:r>
              <a:rPr lang="en" sz="1000">
                <a:latin typeface="Times New Roman"/>
                <a:ea typeface="Times New Roman"/>
                <a:cs typeface="Times New Roman"/>
                <a:sym typeface="Times New Roman"/>
              </a:rPr>
              <a:t>https://docs.google.com/document/d/1diCN2Wz454ztZ5JlQbeVHX785ENQ_TKF3QcP85OhsRQ/edit</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1200"/>
              </a:spcAft>
              <a:buNone/>
            </a:pPr>
            <a:r>
              <a:t/>
            </a:r>
            <a:endParaRPr sz="1000">
              <a:latin typeface="Times New Roman"/>
              <a:ea typeface="Times New Roman"/>
              <a:cs typeface="Times New Roman"/>
              <a:sym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h464d6e54cce73a76_0_1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3" name="Google Shape;153;h464d6e54cce73a76_0_1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4" name="Shape 54"/>
        <p:cNvGrpSpPr/>
        <p:nvPr/>
      </p:nvGrpSpPr>
      <p:grpSpPr>
        <a:xfrm>
          <a:off x="0" y="0"/>
          <a:ext cx="0" cy="0"/>
          <a:chOff x="0" y="0"/>
          <a:chExt cx="0" cy="0"/>
        </a:xfrm>
      </p:grpSpPr>
      <p:sp>
        <p:nvSpPr>
          <p:cNvPr id="55" name="Google Shape;55;p14"/>
          <p:cNvSpPr/>
          <p:nvPr/>
        </p:nvSpPr>
        <p:spPr>
          <a:xfrm>
            <a:off x="2744013" y="756700"/>
            <a:ext cx="1081625" cy="1124950"/>
          </a:xfrm>
          <a:custGeom>
            <a:rect b="b" l="l" r="r" t="t"/>
            <a:pathLst>
              <a:path extrusionOk="0" h="44998" w="43265">
                <a:moveTo>
                  <a:pt x="0" y="44998"/>
                </a:moveTo>
                <a:lnTo>
                  <a:pt x="0" y="0"/>
                </a:lnTo>
                <a:lnTo>
                  <a:pt x="43265" y="0"/>
                </a:lnTo>
              </a:path>
            </a:pathLst>
          </a:custGeom>
          <a:noFill/>
          <a:ln cap="flat" cmpd="sng" w="28575">
            <a:solidFill>
              <a:schemeClr val="lt2"/>
            </a:solidFill>
            <a:prstDash val="solid"/>
            <a:miter lim="8000"/>
            <a:headEnd len="sm" w="sm" type="none"/>
            <a:tailEnd len="sm" w="sm" type="none"/>
          </a:ln>
        </p:spPr>
      </p:sp>
      <p:sp>
        <p:nvSpPr>
          <p:cNvPr id="56" name="Google Shape;56;p14"/>
          <p:cNvSpPr/>
          <p:nvPr/>
        </p:nvSpPr>
        <p:spPr>
          <a:xfrm rot="10800000">
            <a:off x="5318350" y="3266725"/>
            <a:ext cx="1081625" cy="1124950"/>
          </a:xfrm>
          <a:custGeom>
            <a:rect b="b" l="l" r="r" t="t"/>
            <a:pathLst>
              <a:path extrusionOk="0" h="44998" w="43265">
                <a:moveTo>
                  <a:pt x="0" y="44998"/>
                </a:moveTo>
                <a:lnTo>
                  <a:pt x="0" y="0"/>
                </a:lnTo>
                <a:lnTo>
                  <a:pt x="43265" y="0"/>
                </a:lnTo>
              </a:path>
            </a:pathLst>
          </a:custGeom>
          <a:noFill/>
          <a:ln cap="flat" cmpd="sng" w="28575">
            <a:solidFill>
              <a:schemeClr val="lt2"/>
            </a:solidFill>
            <a:prstDash val="solid"/>
            <a:miter lim="8000"/>
            <a:headEnd len="sm" w="sm" type="none"/>
            <a:tailEnd len="sm" w="sm" type="none"/>
          </a:ln>
        </p:spPr>
      </p:sp>
      <p:sp>
        <p:nvSpPr>
          <p:cNvPr id="57" name="Google Shape;57;p14"/>
          <p:cNvSpPr txBox="1"/>
          <p:nvPr>
            <p:ph type="ctrTitle"/>
          </p:nvPr>
        </p:nvSpPr>
        <p:spPr>
          <a:xfrm>
            <a:off x="3044700" y="1444255"/>
            <a:ext cx="3054600" cy="15372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p:txBody>
      </p:sp>
      <p:sp>
        <p:nvSpPr>
          <p:cNvPr id="58" name="Google Shape;58;p14"/>
          <p:cNvSpPr txBox="1"/>
          <p:nvPr>
            <p:ph idx="1" type="subTitle"/>
          </p:nvPr>
        </p:nvSpPr>
        <p:spPr>
          <a:xfrm>
            <a:off x="3044700" y="3116580"/>
            <a:ext cx="3054600" cy="7014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Font typeface="Economica"/>
              <a:buNone/>
              <a:defRPr sz="2100">
                <a:latin typeface="Economica"/>
                <a:ea typeface="Economica"/>
                <a:cs typeface="Economica"/>
                <a:sym typeface="Economica"/>
              </a:defRPr>
            </a:lvl1pPr>
            <a:lvl2pPr lvl="1" algn="ctr">
              <a:lnSpc>
                <a:spcPct val="100000"/>
              </a:lnSpc>
              <a:spcBef>
                <a:spcPts val="0"/>
              </a:spcBef>
              <a:spcAft>
                <a:spcPts val="0"/>
              </a:spcAft>
              <a:buSzPts val="2100"/>
              <a:buFont typeface="Economica"/>
              <a:buNone/>
              <a:defRPr sz="2100">
                <a:latin typeface="Economica"/>
                <a:ea typeface="Economica"/>
                <a:cs typeface="Economica"/>
                <a:sym typeface="Economica"/>
              </a:defRPr>
            </a:lvl2pPr>
            <a:lvl3pPr lvl="2" algn="ctr">
              <a:lnSpc>
                <a:spcPct val="100000"/>
              </a:lnSpc>
              <a:spcBef>
                <a:spcPts val="0"/>
              </a:spcBef>
              <a:spcAft>
                <a:spcPts val="0"/>
              </a:spcAft>
              <a:buSzPts val="2100"/>
              <a:buFont typeface="Economica"/>
              <a:buNone/>
              <a:defRPr sz="2100">
                <a:latin typeface="Economica"/>
                <a:ea typeface="Economica"/>
                <a:cs typeface="Economica"/>
                <a:sym typeface="Economica"/>
              </a:defRPr>
            </a:lvl3pPr>
            <a:lvl4pPr lvl="3" algn="ctr">
              <a:lnSpc>
                <a:spcPct val="100000"/>
              </a:lnSpc>
              <a:spcBef>
                <a:spcPts val="0"/>
              </a:spcBef>
              <a:spcAft>
                <a:spcPts val="0"/>
              </a:spcAft>
              <a:buSzPts val="2100"/>
              <a:buFont typeface="Economica"/>
              <a:buNone/>
              <a:defRPr sz="2100">
                <a:latin typeface="Economica"/>
                <a:ea typeface="Economica"/>
                <a:cs typeface="Economica"/>
                <a:sym typeface="Economica"/>
              </a:defRPr>
            </a:lvl4pPr>
            <a:lvl5pPr lvl="4" algn="ctr">
              <a:lnSpc>
                <a:spcPct val="100000"/>
              </a:lnSpc>
              <a:spcBef>
                <a:spcPts val="0"/>
              </a:spcBef>
              <a:spcAft>
                <a:spcPts val="0"/>
              </a:spcAft>
              <a:buSzPts val="2100"/>
              <a:buFont typeface="Economica"/>
              <a:buNone/>
              <a:defRPr sz="2100">
                <a:latin typeface="Economica"/>
                <a:ea typeface="Economica"/>
                <a:cs typeface="Economica"/>
                <a:sym typeface="Economica"/>
              </a:defRPr>
            </a:lvl5pPr>
            <a:lvl6pPr lvl="5" algn="ctr">
              <a:lnSpc>
                <a:spcPct val="100000"/>
              </a:lnSpc>
              <a:spcBef>
                <a:spcPts val="0"/>
              </a:spcBef>
              <a:spcAft>
                <a:spcPts val="0"/>
              </a:spcAft>
              <a:buSzPts val="2100"/>
              <a:buFont typeface="Economica"/>
              <a:buNone/>
              <a:defRPr sz="2100">
                <a:latin typeface="Economica"/>
                <a:ea typeface="Economica"/>
                <a:cs typeface="Economica"/>
                <a:sym typeface="Economica"/>
              </a:defRPr>
            </a:lvl6pPr>
            <a:lvl7pPr lvl="6" algn="ctr">
              <a:lnSpc>
                <a:spcPct val="100000"/>
              </a:lnSpc>
              <a:spcBef>
                <a:spcPts val="0"/>
              </a:spcBef>
              <a:spcAft>
                <a:spcPts val="0"/>
              </a:spcAft>
              <a:buSzPts val="2100"/>
              <a:buFont typeface="Economica"/>
              <a:buNone/>
              <a:defRPr sz="2100">
                <a:latin typeface="Economica"/>
                <a:ea typeface="Economica"/>
                <a:cs typeface="Economica"/>
                <a:sym typeface="Economica"/>
              </a:defRPr>
            </a:lvl7pPr>
            <a:lvl8pPr lvl="7" algn="ctr">
              <a:lnSpc>
                <a:spcPct val="100000"/>
              </a:lnSpc>
              <a:spcBef>
                <a:spcPts val="0"/>
              </a:spcBef>
              <a:spcAft>
                <a:spcPts val="0"/>
              </a:spcAft>
              <a:buSzPts val="2100"/>
              <a:buFont typeface="Economica"/>
              <a:buNone/>
              <a:defRPr sz="2100">
                <a:latin typeface="Economica"/>
                <a:ea typeface="Economica"/>
                <a:cs typeface="Economica"/>
                <a:sym typeface="Economica"/>
              </a:defRPr>
            </a:lvl8pPr>
            <a:lvl9pPr lvl="8" algn="ctr">
              <a:lnSpc>
                <a:spcPct val="100000"/>
              </a:lnSpc>
              <a:spcBef>
                <a:spcPts val="0"/>
              </a:spcBef>
              <a:spcAft>
                <a:spcPts val="0"/>
              </a:spcAft>
              <a:buSzPts val="2100"/>
              <a:buFont typeface="Economica"/>
              <a:buNone/>
              <a:defRPr sz="2100">
                <a:latin typeface="Economica"/>
                <a:ea typeface="Economica"/>
                <a:cs typeface="Economica"/>
                <a:sym typeface="Economica"/>
              </a:defRPr>
            </a:lvl9pPr>
          </a:lstStyle>
          <a:p/>
        </p:txBody>
      </p:sp>
      <p:sp>
        <p:nvSpPr>
          <p:cNvPr id="59" name="Google Shape;59;p1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60" name="Shape 60"/>
        <p:cNvGrpSpPr/>
        <p:nvPr/>
      </p:nvGrpSpPr>
      <p:grpSpPr>
        <a:xfrm>
          <a:off x="0" y="0"/>
          <a:ext cx="0" cy="0"/>
          <a:chOff x="0" y="0"/>
          <a:chExt cx="0" cy="0"/>
        </a:xfrm>
      </p:grpSpPr>
      <p:sp>
        <p:nvSpPr>
          <p:cNvPr id="61" name="Google Shape;61;p15"/>
          <p:cNvSpPr/>
          <p:nvPr/>
        </p:nvSpPr>
        <p:spPr>
          <a:xfrm flipH="1">
            <a:off x="7595938" y="460225"/>
            <a:ext cx="1081625" cy="1124950"/>
          </a:xfrm>
          <a:custGeom>
            <a:rect b="b" l="l" r="r" t="t"/>
            <a:pathLst>
              <a:path extrusionOk="0" h="44998" w="43265">
                <a:moveTo>
                  <a:pt x="0" y="44998"/>
                </a:moveTo>
                <a:lnTo>
                  <a:pt x="0" y="0"/>
                </a:lnTo>
                <a:lnTo>
                  <a:pt x="43265" y="0"/>
                </a:lnTo>
              </a:path>
            </a:pathLst>
          </a:custGeom>
          <a:noFill/>
          <a:ln cap="flat" cmpd="sng" w="28575">
            <a:solidFill>
              <a:schemeClr val="lt2"/>
            </a:solidFill>
            <a:prstDash val="solid"/>
            <a:miter lim="8000"/>
            <a:headEnd len="sm" w="sm" type="none"/>
            <a:tailEnd len="sm" w="sm" type="none"/>
          </a:ln>
        </p:spPr>
      </p:sp>
      <p:sp>
        <p:nvSpPr>
          <p:cNvPr id="62" name="Google Shape;62;p15"/>
          <p:cNvSpPr/>
          <p:nvPr/>
        </p:nvSpPr>
        <p:spPr>
          <a:xfrm flipH="1" rot="10800000">
            <a:off x="466425" y="3558325"/>
            <a:ext cx="1081625" cy="1124950"/>
          </a:xfrm>
          <a:custGeom>
            <a:rect b="b" l="l" r="r" t="t"/>
            <a:pathLst>
              <a:path extrusionOk="0" h="44998" w="43265">
                <a:moveTo>
                  <a:pt x="0" y="44998"/>
                </a:moveTo>
                <a:lnTo>
                  <a:pt x="0" y="0"/>
                </a:lnTo>
                <a:lnTo>
                  <a:pt x="43265" y="0"/>
                </a:lnTo>
              </a:path>
            </a:pathLst>
          </a:custGeom>
          <a:noFill/>
          <a:ln cap="flat" cmpd="sng" w="28575">
            <a:solidFill>
              <a:schemeClr val="lt2"/>
            </a:solidFill>
            <a:prstDash val="solid"/>
            <a:miter lim="8000"/>
            <a:headEnd len="sm" w="sm" type="none"/>
            <a:tailEnd len="sm" w="sm" type="none"/>
          </a:ln>
        </p:spPr>
      </p:sp>
      <p:sp>
        <p:nvSpPr>
          <p:cNvPr id="63" name="Google Shape;63;p15"/>
          <p:cNvSpPr txBox="1"/>
          <p:nvPr>
            <p:ph type="title"/>
          </p:nvPr>
        </p:nvSpPr>
        <p:spPr>
          <a:xfrm>
            <a:off x="773700" y="1806450"/>
            <a:ext cx="7596600" cy="15306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p:txBody>
      </p:sp>
      <p:sp>
        <p:nvSpPr>
          <p:cNvPr id="64" name="Google Shape;64;p1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5" name="Shape 65"/>
        <p:cNvGrpSpPr/>
        <p:nvPr/>
      </p:nvGrpSpPr>
      <p:grpSpPr>
        <a:xfrm>
          <a:off x="0" y="0"/>
          <a:ext cx="0" cy="0"/>
          <a:chOff x="0" y="0"/>
          <a:chExt cx="0" cy="0"/>
        </a:xfrm>
      </p:grpSpPr>
      <p:sp>
        <p:nvSpPr>
          <p:cNvPr id="66" name="Google Shape;66;p16"/>
          <p:cNvSpPr/>
          <p:nvPr/>
        </p:nvSpPr>
        <p:spPr>
          <a:xfrm>
            <a:off x="0" y="5045700"/>
            <a:ext cx="9144000" cy="9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16"/>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p:txBody>
      </p:sp>
      <p:sp>
        <p:nvSpPr>
          <p:cNvPr id="68" name="Google Shape;68;p16"/>
          <p:cNvSpPr txBox="1"/>
          <p:nvPr>
            <p:ph idx="1" type="body"/>
          </p:nvPr>
        </p:nvSpPr>
        <p:spPr>
          <a:xfrm>
            <a:off x="311700" y="1225225"/>
            <a:ext cx="8520600" cy="3354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69" name="Google Shape;69;p1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0" name="Shape 70"/>
        <p:cNvGrpSpPr/>
        <p:nvPr/>
      </p:nvGrpSpPr>
      <p:grpSpPr>
        <a:xfrm>
          <a:off x="0" y="0"/>
          <a:ext cx="0" cy="0"/>
          <a:chOff x="0" y="0"/>
          <a:chExt cx="0" cy="0"/>
        </a:xfrm>
      </p:grpSpPr>
      <p:sp>
        <p:nvSpPr>
          <p:cNvPr id="71" name="Google Shape;71;p17"/>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p:txBody>
      </p:sp>
      <p:sp>
        <p:nvSpPr>
          <p:cNvPr id="72" name="Google Shape;72;p17"/>
          <p:cNvSpPr txBox="1"/>
          <p:nvPr>
            <p:ph idx="1" type="body"/>
          </p:nvPr>
        </p:nvSpPr>
        <p:spPr>
          <a:xfrm>
            <a:off x="311700" y="1225225"/>
            <a:ext cx="3999900" cy="3354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73" name="Google Shape;73;p17"/>
          <p:cNvSpPr txBox="1"/>
          <p:nvPr>
            <p:ph idx="2" type="body"/>
          </p:nvPr>
        </p:nvSpPr>
        <p:spPr>
          <a:xfrm>
            <a:off x="4832400" y="1225225"/>
            <a:ext cx="3999900" cy="3354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74" name="Google Shape;74;p1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5" name="Shape 75"/>
        <p:cNvGrpSpPr/>
        <p:nvPr/>
      </p:nvGrpSpPr>
      <p:grpSpPr>
        <a:xfrm>
          <a:off x="0" y="0"/>
          <a:ext cx="0" cy="0"/>
          <a:chOff x="0" y="0"/>
          <a:chExt cx="0" cy="0"/>
        </a:xfrm>
      </p:grpSpPr>
      <p:sp>
        <p:nvSpPr>
          <p:cNvPr id="76" name="Google Shape;76;p18"/>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p:txBody>
      </p:sp>
      <p:sp>
        <p:nvSpPr>
          <p:cNvPr id="77" name="Google Shape;77;p1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78" name="Shape 78"/>
        <p:cNvGrpSpPr/>
        <p:nvPr/>
      </p:nvGrpSpPr>
      <p:grpSpPr>
        <a:xfrm>
          <a:off x="0" y="0"/>
          <a:ext cx="0" cy="0"/>
          <a:chOff x="0" y="0"/>
          <a:chExt cx="0" cy="0"/>
        </a:xfrm>
      </p:grpSpPr>
      <p:sp>
        <p:nvSpPr>
          <p:cNvPr id="79" name="Google Shape;79;p19"/>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80" name="Google Shape;80;p19"/>
          <p:cNvSpPr txBox="1"/>
          <p:nvPr>
            <p:ph idx="1" type="body"/>
          </p:nvPr>
        </p:nvSpPr>
        <p:spPr>
          <a:xfrm>
            <a:off x="311700" y="1399400"/>
            <a:ext cx="2808000" cy="27849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81" name="Google Shape;81;p1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82" name="Shape 82"/>
        <p:cNvGrpSpPr/>
        <p:nvPr/>
      </p:nvGrpSpPr>
      <p:grpSpPr>
        <a:xfrm>
          <a:off x="0" y="0"/>
          <a:ext cx="0" cy="0"/>
          <a:chOff x="0" y="0"/>
          <a:chExt cx="0" cy="0"/>
        </a:xfrm>
      </p:grpSpPr>
      <p:sp>
        <p:nvSpPr>
          <p:cNvPr id="83" name="Google Shape;83;p20"/>
          <p:cNvSpPr/>
          <p:nvPr/>
        </p:nvSpPr>
        <p:spPr>
          <a:xfrm>
            <a:off x="0" y="5045700"/>
            <a:ext cx="9144000" cy="9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20"/>
          <p:cNvSpPr txBox="1"/>
          <p:nvPr>
            <p:ph type="title"/>
          </p:nvPr>
        </p:nvSpPr>
        <p:spPr>
          <a:xfrm>
            <a:off x="490250" y="450150"/>
            <a:ext cx="5878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85" name="Google Shape;85;p2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6" name="Shape 86"/>
        <p:cNvGrpSpPr/>
        <p:nvPr/>
      </p:nvGrpSpPr>
      <p:grpSpPr>
        <a:xfrm>
          <a:off x="0" y="0"/>
          <a:ext cx="0" cy="0"/>
          <a:chOff x="0" y="0"/>
          <a:chExt cx="0" cy="0"/>
        </a:xfrm>
      </p:grpSpPr>
      <p:sp>
        <p:nvSpPr>
          <p:cNvPr id="87" name="Google Shape;87;p21"/>
          <p:cNvSpPr/>
          <p:nvPr/>
        </p:nvSpPr>
        <p:spPr>
          <a:xfrm>
            <a:off x="4572000" y="-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8" name="Google Shape;88;p21"/>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89" name="Google Shape;89;p21"/>
          <p:cNvSpPr txBox="1"/>
          <p:nvPr>
            <p:ph type="title"/>
          </p:nvPr>
        </p:nvSpPr>
        <p:spPr>
          <a:xfrm>
            <a:off x="265500" y="929275"/>
            <a:ext cx="4045200" cy="17862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2"/>
              </a:buClr>
              <a:buSzPts val="4200"/>
              <a:buNone/>
              <a:defRPr>
                <a:solidFill>
                  <a:schemeClr val="lt2"/>
                </a:solidFill>
              </a:defRPr>
            </a:lvl1pPr>
            <a:lvl2pPr lvl="1" algn="ctr">
              <a:spcBef>
                <a:spcPts val="0"/>
              </a:spcBef>
              <a:spcAft>
                <a:spcPts val="0"/>
              </a:spcAft>
              <a:buClr>
                <a:schemeClr val="lt2"/>
              </a:buClr>
              <a:buSzPts val="4200"/>
              <a:buNone/>
              <a:defRPr>
                <a:solidFill>
                  <a:schemeClr val="lt2"/>
                </a:solidFill>
              </a:defRPr>
            </a:lvl2pPr>
            <a:lvl3pPr lvl="2" algn="ctr">
              <a:spcBef>
                <a:spcPts val="0"/>
              </a:spcBef>
              <a:spcAft>
                <a:spcPts val="0"/>
              </a:spcAft>
              <a:buClr>
                <a:schemeClr val="lt2"/>
              </a:buClr>
              <a:buSzPts val="4200"/>
              <a:buNone/>
              <a:defRPr>
                <a:solidFill>
                  <a:schemeClr val="lt2"/>
                </a:solidFill>
              </a:defRPr>
            </a:lvl3pPr>
            <a:lvl4pPr lvl="3" algn="ctr">
              <a:spcBef>
                <a:spcPts val="0"/>
              </a:spcBef>
              <a:spcAft>
                <a:spcPts val="0"/>
              </a:spcAft>
              <a:buClr>
                <a:schemeClr val="lt2"/>
              </a:buClr>
              <a:buSzPts val="4200"/>
              <a:buNone/>
              <a:defRPr>
                <a:solidFill>
                  <a:schemeClr val="lt2"/>
                </a:solidFill>
              </a:defRPr>
            </a:lvl4pPr>
            <a:lvl5pPr lvl="4" algn="ctr">
              <a:spcBef>
                <a:spcPts val="0"/>
              </a:spcBef>
              <a:spcAft>
                <a:spcPts val="0"/>
              </a:spcAft>
              <a:buClr>
                <a:schemeClr val="lt2"/>
              </a:buClr>
              <a:buSzPts val="4200"/>
              <a:buNone/>
              <a:defRPr>
                <a:solidFill>
                  <a:schemeClr val="lt2"/>
                </a:solidFill>
              </a:defRPr>
            </a:lvl5pPr>
            <a:lvl6pPr lvl="5" algn="ctr">
              <a:spcBef>
                <a:spcPts val="0"/>
              </a:spcBef>
              <a:spcAft>
                <a:spcPts val="0"/>
              </a:spcAft>
              <a:buClr>
                <a:schemeClr val="lt2"/>
              </a:buClr>
              <a:buSzPts val="4200"/>
              <a:buNone/>
              <a:defRPr>
                <a:solidFill>
                  <a:schemeClr val="lt2"/>
                </a:solidFill>
              </a:defRPr>
            </a:lvl6pPr>
            <a:lvl7pPr lvl="6" algn="ctr">
              <a:spcBef>
                <a:spcPts val="0"/>
              </a:spcBef>
              <a:spcAft>
                <a:spcPts val="0"/>
              </a:spcAft>
              <a:buClr>
                <a:schemeClr val="lt2"/>
              </a:buClr>
              <a:buSzPts val="4200"/>
              <a:buNone/>
              <a:defRPr>
                <a:solidFill>
                  <a:schemeClr val="lt2"/>
                </a:solidFill>
              </a:defRPr>
            </a:lvl7pPr>
            <a:lvl8pPr lvl="7" algn="ctr">
              <a:spcBef>
                <a:spcPts val="0"/>
              </a:spcBef>
              <a:spcAft>
                <a:spcPts val="0"/>
              </a:spcAft>
              <a:buClr>
                <a:schemeClr val="lt2"/>
              </a:buClr>
              <a:buSzPts val="4200"/>
              <a:buNone/>
              <a:defRPr>
                <a:solidFill>
                  <a:schemeClr val="lt2"/>
                </a:solidFill>
              </a:defRPr>
            </a:lvl8pPr>
            <a:lvl9pPr lvl="8" algn="ctr">
              <a:spcBef>
                <a:spcPts val="0"/>
              </a:spcBef>
              <a:spcAft>
                <a:spcPts val="0"/>
              </a:spcAft>
              <a:buClr>
                <a:schemeClr val="lt2"/>
              </a:buClr>
              <a:buSzPts val="4200"/>
              <a:buNone/>
              <a:defRPr>
                <a:solidFill>
                  <a:schemeClr val="lt2"/>
                </a:solidFill>
              </a:defRPr>
            </a:lvl9pPr>
          </a:lstStyle>
          <a:p/>
        </p:txBody>
      </p:sp>
      <p:sp>
        <p:nvSpPr>
          <p:cNvPr id="90" name="Google Shape;90;p21"/>
          <p:cNvSpPr txBox="1"/>
          <p:nvPr>
            <p:ph idx="1" type="subTitle"/>
          </p:nvPr>
        </p:nvSpPr>
        <p:spPr>
          <a:xfrm>
            <a:off x="265500" y="2769001"/>
            <a:ext cx="4045200" cy="1574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400"/>
              <a:buFont typeface="Economica"/>
              <a:buNone/>
              <a:defRPr sz="2400">
                <a:latin typeface="Economica"/>
                <a:ea typeface="Economica"/>
                <a:cs typeface="Economica"/>
                <a:sym typeface="Economica"/>
              </a:defRPr>
            </a:lvl1pPr>
            <a:lvl2pPr lvl="1" algn="ctr">
              <a:lnSpc>
                <a:spcPct val="100000"/>
              </a:lnSpc>
              <a:spcBef>
                <a:spcPts val="0"/>
              </a:spcBef>
              <a:spcAft>
                <a:spcPts val="0"/>
              </a:spcAft>
              <a:buSzPts val="2400"/>
              <a:buFont typeface="Economica"/>
              <a:buNone/>
              <a:defRPr sz="2400">
                <a:latin typeface="Economica"/>
                <a:ea typeface="Economica"/>
                <a:cs typeface="Economica"/>
                <a:sym typeface="Economica"/>
              </a:defRPr>
            </a:lvl2pPr>
            <a:lvl3pPr lvl="2" algn="ctr">
              <a:lnSpc>
                <a:spcPct val="100000"/>
              </a:lnSpc>
              <a:spcBef>
                <a:spcPts val="0"/>
              </a:spcBef>
              <a:spcAft>
                <a:spcPts val="0"/>
              </a:spcAft>
              <a:buSzPts val="2400"/>
              <a:buFont typeface="Economica"/>
              <a:buNone/>
              <a:defRPr sz="2400">
                <a:latin typeface="Economica"/>
                <a:ea typeface="Economica"/>
                <a:cs typeface="Economica"/>
                <a:sym typeface="Economica"/>
              </a:defRPr>
            </a:lvl3pPr>
            <a:lvl4pPr lvl="3" algn="ctr">
              <a:lnSpc>
                <a:spcPct val="100000"/>
              </a:lnSpc>
              <a:spcBef>
                <a:spcPts val="0"/>
              </a:spcBef>
              <a:spcAft>
                <a:spcPts val="0"/>
              </a:spcAft>
              <a:buSzPts val="2400"/>
              <a:buFont typeface="Economica"/>
              <a:buNone/>
              <a:defRPr sz="2400">
                <a:latin typeface="Economica"/>
                <a:ea typeface="Economica"/>
                <a:cs typeface="Economica"/>
                <a:sym typeface="Economica"/>
              </a:defRPr>
            </a:lvl4pPr>
            <a:lvl5pPr lvl="4" algn="ctr">
              <a:lnSpc>
                <a:spcPct val="100000"/>
              </a:lnSpc>
              <a:spcBef>
                <a:spcPts val="0"/>
              </a:spcBef>
              <a:spcAft>
                <a:spcPts val="0"/>
              </a:spcAft>
              <a:buSzPts val="2400"/>
              <a:buFont typeface="Economica"/>
              <a:buNone/>
              <a:defRPr sz="2400">
                <a:latin typeface="Economica"/>
                <a:ea typeface="Economica"/>
                <a:cs typeface="Economica"/>
                <a:sym typeface="Economica"/>
              </a:defRPr>
            </a:lvl5pPr>
            <a:lvl6pPr lvl="5" algn="ctr">
              <a:lnSpc>
                <a:spcPct val="100000"/>
              </a:lnSpc>
              <a:spcBef>
                <a:spcPts val="0"/>
              </a:spcBef>
              <a:spcAft>
                <a:spcPts val="0"/>
              </a:spcAft>
              <a:buSzPts val="2400"/>
              <a:buFont typeface="Economica"/>
              <a:buNone/>
              <a:defRPr sz="2400">
                <a:latin typeface="Economica"/>
                <a:ea typeface="Economica"/>
                <a:cs typeface="Economica"/>
                <a:sym typeface="Economica"/>
              </a:defRPr>
            </a:lvl6pPr>
            <a:lvl7pPr lvl="6" algn="ctr">
              <a:lnSpc>
                <a:spcPct val="100000"/>
              </a:lnSpc>
              <a:spcBef>
                <a:spcPts val="0"/>
              </a:spcBef>
              <a:spcAft>
                <a:spcPts val="0"/>
              </a:spcAft>
              <a:buSzPts val="2400"/>
              <a:buFont typeface="Economica"/>
              <a:buNone/>
              <a:defRPr sz="2400">
                <a:latin typeface="Economica"/>
                <a:ea typeface="Economica"/>
                <a:cs typeface="Economica"/>
                <a:sym typeface="Economica"/>
              </a:defRPr>
            </a:lvl7pPr>
            <a:lvl8pPr lvl="7" algn="ctr">
              <a:lnSpc>
                <a:spcPct val="100000"/>
              </a:lnSpc>
              <a:spcBef>
                <a:spcPts val="0"/>
              </a:spcBef>
              <a:spcAft>
                <a:spcPts val="0"/>
              </a:spcAft>
              <a:buSzPts val="2400"/>
              <a:buFont typeface="Economica"/>
              <a:buNone/>
              <a:defRPr sz="2400">
                <a:latin typeface="Economica"/>
                <a:ea typeface="Economica"/>
                <a:cs typeface="Economica"/>
                <a:sym typeface="Economica"/>
              </a:defRPr>
            </a:lvl8pPr>
            <a:lvl9pPr lvl="8" algn="ctr">
              <a:lnSpc>
                <a:spcPct val="100000"/>
              </a:lnSpc>
              <a:spcBef>
                <a:spcPts val="0"/>
              </a:spcBef>
              <a:spcAft>
                <a:spcPts val="0"/>
              </a:spcAft>
              <a:buSzPts val="2400"/>
              <a:buFont typeface="Economica"/>
              <a:buNone/>
              <a:defRPr sz="2400">
                <a:latin typeface="Economica"/>
                <a:ea typeface="Economica"/>
                <a:cs typeface="Economica"/>
                <a:sym typeface="Economica"/>
              </a:defRPr>
            </a:lvl9pPr>
          </a:lstStyle>
          <a:p/>
        </p:txBody>
      </p:sp>
      <p:sp>
        <p:nvSpPr>
          <p:cNvPr id="91" name="Google Shape;91;p21"/>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92" name="Google Shape;92;p2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93" name="Shape 93"/>
        <p:cNvGrpSpPr/>
        <p:nvPr/>
      </p:nvGrpSpPr>
      <p:grpSpPr>
        <a:xfrm>
          <a:off x="0" y="0"/>
          <a:ext cx="0" cy="0"/>
          <a:chOff x="0" y="0"/>
          <a:chExt cx="0" cy="0"/>
        </a:xfrm>
      </p:grpSpPr>
      <p:sp>
        <p:nvSpPr>
          <p:cNvPr id="94" name="Google Shape;94;p22"/>
          <p:cNvSpPr txBox="1"/>
          <p:nvPr>
            <p:ph idx="1" type="body"/>
          </p:nvPr>
        </p:nvSpPr>
        <p:spPr>
          <a:xfrm>
            <a:off x="319500" y="421892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2400"/>
              <a:buFont typeface="Economica"/>
              <a:buNone/>
              <a:defRPr sz="2400">
                <a:latin typeface="Economica"/>
                <a:ea typeface="Economica"/>
                <a:cs typeface="Economica"/>
                <a:sym typeface="Economica"/>
              </a:defRPr>
            </a:lvl1pPr>
          </a:lstStyle>
          <a:p/>
        </p:txBody>
      </p:sp>
      <p:sp>
        <p:nvSpPr>
          <p:cNvPr id="95" name="Google Shape;95;p2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96" name="Shape 96"/>
        <p:cNvGrpSpPr/>
        <p:nvPr/>
      </p:nvGrpSpPr>
      <p:grpSpPr>
        <a:xfrm>
          <a:off x="0" y="0"/>
          <a:ext cx="0" cy="0"/>
          <a:chOff x="0" y="0"/>
          <a:chExt cx="0" cy="0"/>
        </a:xfrm>
      </p:grpSpPr>
      <p:sp>
        <p:nvSpPr>
          <p:cNvPr id="97" name="Google Shape;97;p23"/>
          <p:cNvSpPr/>
          <p:nvPr/>
        </p:nvSpPr>
        <p:spPr>
          <a:xfrm>
            <a:off x="0" y="5045700"/>
            <a:ext cx="9144000" cy="9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23"/>
          <p:cNvSpPr txBox="1"/>
          <p:nvPr>
            <p:ph hasCustomPrompt="1" type="title"/>
          </p:nvPr>
        </p:nvSpPr>
        <p:spPr>
          <a:xfrm>
            <a:off x="311700" y="957125"/>
            <a:ext cx="8520600" cy="2128800"/>
          </a:xfrm>
          <a:prstGeom prst="rect">
            <a:avLst/>
          </a:prstGeom>
        </p:spPr>
        <p:txBody>
          <a:bodyPr anchorCtr="0" anchor="ctr" bIns="91425" lIns="91425" spcFirstLastPara="1" rIns="91425" wrap="square" tIns="91425">
            <a:normAutofit/>
          </a:bodyPr>
          <a:lstStyle>
            <a:lvl1pPr lvl="0" algn="ctr">
              <a:spcBef>
                <a:spcPts val="0"/>
              </a:spcBef>
              <a:spcAft>
                <a:spcPts val="0"/>
              </a:spcAft>
              <a:buClr>
                <a:schemeClr val="lt2"/>
              </a:buClr>
              <a:buSzPts val="16000"/>
              <a:buNone/>
              <a:defRPr sz="16000">
                <a:solidFill>
                  <a:schemeClr val="lt2"/>
                </a:solidFill>
              </a:defRPr>
            </a:lvl1pPr>
            <a:lvl2pPr lvl="1" algn="ctr">
              <a:spcBef>
                <a:spcPts val="0"/>
              </a:spcBef>
              <a:spcAft>
                <a:spcPts val="0"/>
              </a:spcAft>
              <a:buClr>
                <a:schemeClr val="lt2"/>
              </a:buClr>
              <a:buSzPts val="16000"/>
              <a:buNone/>
              <a:defRPr sz="16000">
                <a:solidFill>
                  <a:schemeClr val="lt2"/>
                </a:solidFill>
              </a:defRPr>
            </a:lvl2pPr>
            <a:lvl3pPr lvl="2" algn="ctr">
              <a:spcBef>
                <a:spcPts val="0"/>
              </a:spcBef>
              <a:spcAft>
                <a:spcPts val="0"/>
              </a:spcAft>
              <a:buClr>
                <a:schemeClr val="lt2"/>
              </a:buClr>
              <a:buSzPts val="16000"/>
              <a:buNone/>
              <a:defRPr sz="16000">
                <a:solidFill>
                  <a:schemeClr val="lt2"/>
                </a:solidFill>
              </a:defRPr>
            </a:lvl3pPr>
            <a:lvl4pPr lvl="3" algn="ctr">
              <a:spcBef>
                <a:spcPts val="0"/>
              </a:spcBef>
              <a:spcAft>
                <a:spcPts val="0"/>
              </a:spcAft>
              <a:buClr>
                <a:schemeClr val="lt2"/>
              </a:buClr>
              <a:buSzPts val="16000"/>
              <a:buNone/>
              <a:defRPr sz="16000">
                <a:solidFill>
                  <a:schemeClr val="lt2"/>
                </a:solidFill>
              </a:defRPr>
            </a:lvl4pPr>
            <a:lvl5pPr lvl="4" algn="ctr">
              <a:spcBef>
                <a:spcPts val="0"/>
              </a:spcBef>
              <a:spcAft>
                <a:spcPts val="0"/>
              </a:spcAft>
              <a:buClr>
                <a:schemeClr val="lt2"/>
              </a:buClr>
              <a:buSzPts val="16000"/>
              <a:buNone/>
              <a:defRPr sz="16000">
                <a:solidFill>
                  <a:schemeClr val="lt2"/>
                </a:solidFill>
              </a:defRPr>
            </a:lvl5pPr>
            <a:lvl6pPr lvl="5" algn="ctr">
              <a:spcBef>
                <a:spcPts val="0"/>
              </a:spcBef>
              <a:spcAft>
                <a:spcPts val="0"/>
              </a:spcAft>
              <a:buClr>
                <a:schemeClr val="lt2"/>
              </a:buClr>
              <a:buSzPts val="16000"/>
              <a:buNone/>
              <a:defRPr sz="16000">
                <a:solidFill>
                  <a:schemeClr val="lt2"/>
                </a:solidFill>
              </a:defRPr>
            </a:lvl6pPr>
            <a:lvl7pPr lvl="6" algn="ctr">
              <a:spcBef>
                <a:spcPts val="0"/>
              </a:spcBef>
              <a:spcAft>
                <a:spcPts val="0"/>
              </a:spcAft>
              <a:buClr>
                <a:schemeClr val="lt2"/>
              </a:buClr>
              <a:buSzPts val="16000"/>
              <a:buNone/>
              <a:defRPr sz="16000">
                <a:solidFill>
                  <a:schemeClr val="lt2"/>
                </a:solidFill>
              </a:defRPr>
            </a:lvl7pPr>
            <a:lvl8pPr lvl="7" algn="ctr">
              <a:spcBef>
                <a:spcPts val="0"/>
              </a:spcBef>
              <a:spcAft>
                <a:spcPts val="0"/>
              </a:spcAft>
              <a:buClr>
                <a:schemeClr val="lt2"/>
              </a:buClr>
              <a:buSzPts val="16000"/>
              <a:buNone/>
              <a:defRPr sz="16000">
                <a:solidFill>
                  <a:schemeClr val="lt2"/>
                </a:solidFill>
              </a:defRPr>
            </a:lvl8pPr>
            <a:lvl9pPr lvl="8" algn="ctr">
              <a:spcBef>
                <a:spcPts val="0"/>
              </a:spcBef>
              <a:spcAft>
                <a:spcPts val="0"/>
              </a:spcAft>
              <a:buClr>
                <a:schemeClr val="lt2"/>
              </a:buClr>
              <a:buSzPts val="16000"/>
              <a:buNone/>
              <a:defRPr sz="16000">
                <a:solidFill>
                  <a:schemeClr val="lt2"/>
                </a:solidFill>
              </a:defRPr>
            </a:lvl9pPr>
          </a:lstStyle>
          <a:p>
            <a:r>
              <a:t>xx%</a:t>
            </a:r>
          </a:p>
        </p:txBody>
      </p:sp>
      <p:sp>
        <p:nvSpPr>
          <p:cNvPr id="99" name="Google Shape;99;p23"/>
          <p:cNvSpPr txBox="1"/>
          <p:nvPr>
            <p:ph idx="1" type="body"/>
          </p:nvPr>
        </p:nvSpPr>
        <p:spPr>
          <a:xfrm>
            <a:off x="311700" y="3162000"/>
            <a:ext cx="8520600" cy="10716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100" name="Google Shape;100;p2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1" name="Shape 101"/>
        <p:cNvGrpSpPr/>
        <p:nvPr/>
      </p:nvGrpSpPr>
      <p:grpSpPr>
        <a:xfrm>
          <a:off x="0" y="0"/>
          <a:ext cx="0" cy="0"/>
          <a:chOff x="0" y="0"/>
          <a:chExt cx="0" cy="0"/>
        </a:xfrm>
      </p:grpSpPr>
      <p:sp>
        <p:nvSpPr>
          <p:cNvPr id="102" name="Google Shape;102;p2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2" Type="http://schemas.openxmlformats.org/officeDocument/2006/relationships/theme" Target="../theme/theme2.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luxe">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315925"/>
            <a:ext cx="8520600" cy="831300"/>
          </a:xfrm>
          <a:prstGeom prst="rect">
            <a:avLst/>
          </a:prstGeom>
          <a:noFill/>
          <a:ln>
            <a:noFill/>
          </a:ln>
        </p:spPr>
        <p:txBody>
          <a:bodyPr anchorCtr="0" anchor="b" bIns="91425" lIns="91425" spcFirstLastPara="1" rIns="91425" wrap="square" tIns="91425">
            <a:normAutofit/>
          </a:bodyPr>
          <a:lstStyle>
            <a:lvl1pPr lvl="0">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1pPr>
            <a:lvl2pPr lvl="1">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2pPr>
            <a:lvl3pPr lvl="2">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3pPr>
            <a:lvl4pPr lvl="3">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4pPr>
            <a:lvl5pPr lvl="4">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5pPr>
            <a:lvl6pPr lvl="5">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6pPr>
            <a:lvl7pPr lvl="6">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7pPr>
            <a:lvl8pPr lvl="7">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8pPr>
            <a:lvl9pPr lvl="8">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9pPr>
          </a:lstStyle>
          <a:p/>
        </p:txBody>
      </p:sp>
      <p:sp>
        <p:nvSpPr>
          <p:cNvPr id="52" name="Google Shape;52;p13"/>
          <p:cNvSpPr txBox="1"/>
          <p:nvPr>
            <p:ph idx="1" type="body"/>
          </p:nvPr>
        </p:nvSpPr>
        <p:spPr>
          <a:xfrm>
            <a:off x="311700" y="1225225"/>
            <a:ext cx="8520600" cy="3354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1"/>
              </a:buClr>
              <a:buSzPts val="1800"/>
              <a:buFont typeface="Open Sans"/>
              <a:buChar char="●"/>
              <a:defRPr sz="1800">
                <a:solidFill>
                  <a:schemeClr val="dk1"/>
                </a:solidFill>
                <a:latin typeface="Open Sans"/>
                <a:ea typeface="Open Sans"/>
                <a:cs typeface="Open Sans"/>
                <a:sym typeface="Open Sans"/>
              </a:defRPr>
            </a:lvl1pPr>
            <a:lvl2pPr indent="-317500" lvl="1" marL="9144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2pPr>
            <a:lvl3pPr indent="-317500" lvl="2" marL="13716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3pPr>
            <a:lvl4pPr indent="-317500" lvl="3" marL="18288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4pPr>
            <a:lvl5pPr indent="-317500" lvl="4" marL="22860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5pPr>
            <a:lvl6pPr indent="-317500" lvl="5" marL="27432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6pPr>
            <a:lvl7pPr indent="-317500" lvl="6" marL="32004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7pPr>
            <a:lvl8pPr indent="-317500" lvl="7" marL="36576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8pPr>
            <a:lvl9pPr indent="-317500" lvl="8" marL="41148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9pPr>
          </a:lstStyle>
          <a:p/>
        </p:txBody>
      </p:sp>
      <p:sp>
        <p:nvSpPr>
          <p:cNvPr id="53" name="Google Shape;53;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1"/>
                </a:solidFill>
                <a:latin typeface="Economica"/>
                <a:ea typeface="Economica"/>
                <a:cs typeface="Economica"/>
                <a:sym typeface="Economica"/>
              </a:defRPr>
            </a:lvl1pPr>
            <a:lvl2pPr lvl="1" algn="r">
              <a:buNone/>
              <a:defRPr sz="1000">
                <a:solidFill>
                  <a:schemeClr val="dk1"/>
                </a:solidFill>
                <a:latin typeface="Economica"/>
                <a:ea typeface="Economica"/>
                <a:cs typeface="Economica"/>
                <a:sym typeface="Economica"/>
              </a:defRPr>
            </a:lvl2pPr>
            <a:lvl3pPr lvl="2" algn="r">
              <a:buNone/>
              <a:defRPr sz="1000">
                <a:solidFill>
                  <a:schemeClr val="dk1"/>
                </a:solidFill>
                <a:latin typeface="Economica"/>
                <a:ea typeface="Economica"/>
                <a:cs typeface="Economica"/>
                <a:sym typeface="Economica"/>
              </a:defRPr>
            </a:lvl3pPr>
            <a:lvl4pPr lvl="3" algn="r">
              <a:buNone/>
              <a:defRPr sz="1000">
                <a:solidFill>
                  <a:schemeClr val="dk1"/>
                </a:solidFill>
                <a:latin typeface="Economica"/>
                <a:ea typeface="Economica"/>
                <a:cs typeface="Economica"/>
                <a:sym typeface="Economica"/>
              </a:defRPr>
            </a:lvl4pPr>
            <a:lvl5pPr lvl="4" algn="r">
              <a:buNone/>
              <a:defRPr sz="1000">
                <a:solidFill>
                  <a:schemeClr val="dk1"/>
                </a:solidFill>
                <a:latin typeface="Economica"/>
                <a:ea typeface="Economica"/>
                <a:cs typeface="Economica"/>
                <a:sym typeface="Economica"/>
              </a:defRPr>
            </a:lvl5pPr>
            <a:lvl6pPr lvl="5" algn="r">
              <a:buNone/>
              <a:defRPr sz="1000">
                <a:solidFill>
                  <a:schemeClr val="dk1"/>
                </a:solidFill>
                <a:latin typeface="Economica"/>
                <a:ea typeface="Economica"/>
                <a:cs typeface="Economica"/>
                <a:sym typeface="Economica"/>
              </a:defRPr>
            </a:lvl6pPr>
            <a:lvl7pPr lvl="6" algn="r">
              <a:buNone/>
              <a:defRPr sz="1000">
                <a:solidFill>
                  <a:schemeClr val="dk1"/>
                </a:solidFill>
                <a:latin typeface="Economica"/>
                <a:ea typeface="Economica"/>
                <a:cs typeface="Economica"/>
                <a:sym typeface="Economica"/>
              </a:defRPr>
            </a:lvl7pPr>
            <a:lvl8pPr lvl="7" algn="r">
              <a:buNone/>
              <a:defRPr sz="1000">
                <a:solidFill>
                  <a:schemeClr val="dk1"/>
                </a:solidFill>
                <a:latin typeface="Economica"/>
                <a:ea typeface="Economica"/>
                <a:cs typeface="Economica"/>
                <a:sym typeface="Economica"/>
              </a:defRPr>
            </a:lvl8pPr>
            <a:lvl9pPr lvl="8" algn="r">
              <a:buNone/>
              <a:defRPr sz="1000">
                <a:solidFill>
                  <a:schemeClr val="dk1"/>
                </a:solidFill>
                <a:latin typeface="Economica"/>
                <a:ea typeface="Economica"/>
                <a:cs typeface="Economica"/>
                <a:sym typeface="Economica"/>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 Id="rId3"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25"/>
          <p:cNvSpPr txBox="1"/>
          <p:nvPr>
            <p:ph type="ctrTitle"/>
          </p:nvPr>
        </p:nvSpPr>
        <p:spPr>
          <a:xfrm>
            <a:off x="331050" y="1023125"/>
            <a:ext cx="8481900" cy="1960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a:t>Project Ragnarok: Milestone 5</a:t>
            </a:r>
            <a:endParaRPr sz="4200">
              <a:latin typeface="Economica"/>
              <a:ea typeface="Economica"/>
              <a:cs typeface="Economica"/>
              <a:sym typeface="Economica"/>
            </a:endParaRPr>
          </a:p>
          <a:p>
            <a:pPr indent="0" lvl="0" marL="0" rtl="0" algn="ctr">
              <a:spcBef>
                <a:spcPts val="0"/>
              </a:spcBef>
              <a:spcAft>
                <a:spcPts val="0"/>
              </a:spcAft>
              <a:buNone/>
            </a:pPr>
            <a:r>
              <a:rPr lang="en" sz="4200">
                <a:latin typeface="Economica"/>
                <a:ea typeface="Economica"/>
                <a:cs typeface="Economica"/>
                <a:sym typeface="Economica"/>
              </a:rPr>
              <a:t>Post-Quantum Cybersecurity with Lightning data</a:t>
            </a:r>
            <a:endParaRPr sz="4200">
              <a:latin typeface="Economica"/>
              <a:ea typeface="Economica"/>
              <a:cs typeface="Economica"/>
              <a:sym typeface="Economica"/>
            </a:endParaRPr>
          </a:p>
        </p:txBody>
      </p:sp>
      <p:sp>
        <p:nvSpPr>
          <p:cNvPr id="108" name="Google Shape;108;p25"/>
          <p:cNvSpPr txBox="1"/>
          <p:nvPr/>
        </p:nvSpPr>
        <p:spPr>
          <a:xfrm>
            <a:off x="2567275" y="2983925"/>
            <a:ext cx="3847200" cy="12915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en" sz="1800">
                <a:solidFill>
                  <a:srgbClr val="000000"/>
                </a:solidFill>
                <a:latin typeface="Economica"/>
                <a:ea typeface="Economica"/>
                <a:cs typeface="Economica"/>
                <a:sym typeface="Economica"/>
              </a:rPr>
              <a:t>Team Members: Joanna Zhang, Gianni Bubb, </a:t>
            </a:r>
            <a:endParaRPr sz="1800">
              <a:solidFill>
                <a:srgbClr val="000000"/>
              </a:solidFill>
              <a:latin typeface="Economica"/>
              <a:ea typeface="Economica"/>
              <a:cs typeface="Economica"/>
              <a:sym typeface="Economica"/>
            </a:endParaRPr>
          </a:p>
          <a:p>
            <a:pPr indent="0" lvl="0" marL="0" rtl="0" algn="ctr">
              <a:lnSpc>
                <a:spcPct val="115000"/>
              </a:lnSpc>
              <a:spcBef>
                <a:spcPts val="0"/>
              </a:spcBef>
              <a:spcAft>
                <a:spcPts val="0"/>
              </a:spcAft>
              <a:buNone/>
            </a:pPr>
            <a:r>
              <a:rPr lang="en" sz="1800">
                <a:solidFill>
                  <a:srgbClr val="000000"/>
                </a:solidFill>
                <a:latin typeface="Economica"/>
                <a:ea typeface="Economica"/>
                <a:cs typeface="Economica"/>
                <a:sym typeface="Economica"/>
              </a:rPr>
              <a:t>Aidan Nelappana</a:t>
            </a:r>
            <a:endParaRPr sz="1800">
              <a:solidFill>
                <a:srgbClr val="000000"/>
              </a:solidFill>
              <a:latin typeface="Economica"/>
              <a:ea typeface="Economica"/>
              <a:cs typeface="Economica"/>
              <a:sym typeface="Economica"/>
            </a:endParaRPr>
          </a:p>
          <a:p>
            <a:pPr indent="0" lvl="0" marL="0" rtl="0" algn="ctr">
              <a:lnSpc>
                <a:spcPct val="115000"/>
              </a:lnSpc>
              <a:spcBef>
                <a:spcPts val="0"/>
              </a:spcBef>
              <a:spcAft>
                <a:spcPts val="0"/>
              </a:spcAft>
              <a:buNone/>
            </a:pPr>
            <a:r>
              <a:rPr lang="en" sz="1800">
                <a:solidFill>
                  <a:srgbClr val="000000"/>
                </a:solidFill>
                <a:latin typeface="Economica"/>
                <a:ea typeface="Economica"/>
                <a:cs typeface="Economica"/>
                <a:sym typeface="Economica"/>
              </a:rPr>
              <a:t>Faculty Advisor and Client: Dr. Bhattacharyya </a:t>
            </a:r>
            <a:endParaRPr sz="1800">
              <a:solidFill>
                <a:srgbClr val="000000"/>
              </a:solidFill>
              <a:latin typeface="Economica"/>
              <a:ea typeface="Economica"/>
              <a:cs typeface="Economica"/>
              <a:sym typeface="Economica"/>
            </a:endParaRPr>
          </a:p>
          <a:p>
            <a:pPr indent="0" lvl="0" marL="0" rtl="0" algn="ctr">
              <a:lnSpc>
                <a:spcPct val="115000"/>
              </a:lnSpc>
              <a:spcBef>
                <a:spcPts val="0"/>
              </a:spcBef>
              <a:spcAft>
                <a:spcPts val="0"/>
              </a:spcAft>
              <a:buNone/>
            </a:pPr>
            <a:r>
              <a:rPr lang="en" sz="1800">
                <a:solidFill>
                  <a:schemeClr val="dk1"/>
                </a:solidFill>
                <a:latin typeface="Economica"/>
                <a:ea typeface="Economica"/>
                <a:cs typeface="Economica"/>
                <a:sym typeface="Economica"/>
              </a:rPr>
              <a:t>Dr. Amitabh Nag</a:t>
            </a:r>
            <a:endParaRPr sz="1800">
              <a:latin typeface="Economica"/>
              <a:ea typeface="Economica"/>
              <a:cs typeface="Economica"/>
              <a:sym typeface="Economica"/>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6"/>
          <p:cNvSpPr txBox="1"/>
          <p:nvPr>
            <p:ph type="title"/>
          </p:nvPr>
        </p:nvSpPr>
        <p:spPr>
          <a:xfrm>
            <a:off x="311700" y="315925"/>
            <a:ext cx="8520600" cy="831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API authentication and integration</a:t>
            </a:r>
            <a:endParaRPr/>
          </a:p>
        </p:txBody>
      </p:sp>
      <p:sp>
        <p:nvSpPr>
          <p:cNvPr id="114" name="Google Shape;114;p26"/>
          <p:cNvSpPr txBox="1"/>
          <p:nvPr/>
        </p:nvSpPr>
        <p:spPr>
          <a:xfrm>
            <a:off x="317500" y="1219200"/>
            <a:ext cx="8508900" cy="3352800"/>
          </a:xfrm>
          <a:prstGeom prst="rect">
            <a:avLst/>
          </a:prstGeom>
          <a:noFill/>
          <a:ln>
            <a:noFill/>
          </a:ln>
        </p:spPr>
        <p:txBody>
          <a:bodyPr anchorCtr="0" anchor="t" bIns="91425" lIns="91425" spcFirstLastPara="1" rIns="91425" wrap="square" tIns="91425">
            <a:noAutofit/>
          </a:bodyPr>
          <a:lstStyle/>
          <a:p>
            <a:pPr indent="-342900" lvl="0" marL="457200" rtl="0" algn="l">
              <a:lnSpc>
                <a:spcPct val="110000"/>
              </a:lnSpc>
              <a:spcBef>
                <a:spcPts val="0"/>
              </a:spcBef>
              <a:spcAft>
                <a:spcPts val="0"/>
              </a:spcAft>
              <a:buSzPts val="1800"/>
              <a:buChar char="●"/>
            </a:pPr>
            <a:r>
              <a:rPr lang="en" sz="1800"/>
              <a:t>Implemented bearer-token authentication, role checks, and browser login.</a:t>
            </a:r>
            <a:endParaRPr sz="1800"/>
          </a:p>
          <a:p>
            <a:pPr indent="-342900" lvl="0" marL="457200" rtl="0" algn="l">
              <a:lnSpc>
                <a:spcPct val="110000"/>
              </a:lnSpc>
              <a:spcBef>
                <a:spcPts val="0"/>
              </a:spcBef>
              <a:spcAft>
                <a:spcPts val="0"/>
              </a:spcAft>
              <a:buSzPts val="1800"/>
              <a:buChar char="●"/>
            </a:pPr>
            <a:r>
              <a:rPr lang="en" sz="1800"/>
              <a:t>Integrated the Python API and fixed Rust/Docker build issues.</a:t>
            </a:r>
            <a:endParaRPr sz="1800"/>
          </a:p>
          <a:p>
            <a:pPr indent="-342900" lvl="0" marL="457200" rtl="0" algn="l">
              <a:lnSpc>
                <a:spcPct val="110000"/>
              </a:lnSpc>
              <a:spcBef>
                <a:spcPts val="0"/>
              </a:spcBef>
              <a:spcAft>
                <a:spcPts val="0"/>
              </a:spcAft>
              <a:buSzPts val="1800"/>
              <a:buChar char="●"/>
            </a:pPr>
            <a:r>
              <a:rPr lang="en" sz="1800"/>
              <a:t>Next: complete OAuth2/JWT, rate limiting, and API testing on the Pi.</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27"/>
          <p:cNvSpPr txBox="1"/>
          <p:nvPr>
            <p:ph type="title"/>
          </p:nvPr>
        </p:nvSpPr>
        <p:spPr>
          <a:xfrm>
            <a:off x="311700" y="315925"/>
            <a:ext cx="8688900" cy="831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 sz="3780"/>
              <a:t>Entropy assessment and extraction</a:t>
            </a:r>
            <a:endParaRPr sz="3780"/>
          </a:p>
        </p:txBody>
      </p:sp>
      <p:sp>
        <p:nvSpPr>
          <p:cNvPr id="120" name="Google Shape;120;p27"/>
          <p:cNvSpPr txBox="1"/>
          <p:nvPr/>
        </p:nvSpPr>
        <p:spPr>
          <a:xfrm>
            <a:off x="317500" y="1219200"/>
            <a:ext cx="8508900" cy="3352800"/>
          </a:xfrm>
          <a:prstGeom prst="rect">
            <a:avLst/>
          </a:prstGeom>
          <a:noFill/>
          <a:ln>
            <a:noFill/>
          </a:ln>
        </p:spPr>
        <p:txBody>
          <a:bodyPr anchorCtr="0" anchor="t" bIns="91425" lIns="91425" spcFirstLastPara="1" rIns="91425" wrap="square" tIns="91425">
            <a:noAutofit/>
          </a:bodyPr>
          <a:lstStyle/>
          <a:p>
            <a:pPr indent="-342900" lvl="0" marL="457200" rtl="0" algn="l">
              <a:lnSpc>
                <a:spcPct val="110000"/>
              </a:lnSpc>
              <a:spcBef>
                <a:spcPts val="0"/>
              </a:spcBef>
              <a:spcAft>
                <a:spcPts val="0"/>
              </a:spcAft>
              <a:buSzPts val="1800"/>
              <a:buChar char="●"/>
            </a:pPr>
            <a:r>
              <a:rPr lang="en" sz="1800"/>
              <a:t>Assessed 1,000,000 lightning events with the NIST non-IID tool.</a:t>
            </a:r>
            <a:endParaRPr sz="1800"/>
          </a:p>
          <a:p>
            <a:pPr indent="-342900" lvl="0" marL="457200" rtl="0" algn="l">
              <a:lnSpc>
                <a:spcPct val="110000"/>
              </a:lnSpc>
              <a:spcBef>
                <a:spcPts val="0"/>
              </a:spcBef>
              <a:spcAft>
                <a:spcPts val="0"/>
              </a:spcAft>
              <a:buSzPts val="1800"/>
              <a:buChar char="●"/>
            </a:pPr>
            <a:r>
              <a:rPr lang="en" sz="1800"/>
              <a:t>Timestamp bytes measured 7.2621 bits per 8-bit sample. This is a corpus estimate, not source validation.</a:t>
            </a:r>
            <a:endParaRPr sz="1800"/>
          </a:p>
          <a:p>
            <a:pPr indent="-342900" lvl="0" marL="457200" rtl="0" algn="l">
              <a:lnSpc>
                <a:spcPct val="110000"/>
              </a:lnSpc>
              <a:spcBef>
                <a:spcPts val="0"/>
              </a:spcBef>
              <a:spcAft>
                <a:spcPts val="0"/>
              </a:spcAft>
              <a:buSzPts val="1800"/>
              <a:buChar char="●"/>
            </a:pPr>
            <a:r>
              <a:rPr lang="en" sz="1800"/>
              <a:t>Implemented SHA3 and Toeplitz output with downloadable provenance.</a:t>
            </a:r>
            <a:endParaRPr sz="1800"/>
          </a:p>
          <a:p>
            <a:pPr indent="-342900" lvl="0" marL="457200" rtl="0" algn="l">
              <a:lnSpc>
                <a:spcPct val="110000"/>
              </a:lnSpc>
              <a:spcBef>
                <a:spcPts val="0"/>
              </a:spcBef>
              <a:spcAft>
                <a:spcPts val="0"/>
              </a:spcAft>
              <a:buSzPts val="1800"/>
              <a:buChar char="●"/>
            </a:pPr>
            <a:r>
              <a:rPr lang="en" sz="1800"/>
              <a:t>Next: validate source dependence and the joint entropy bound, then integrate PQC.</a:t>
            </a:r>
            <a:endParaRPr sz="18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28"/>
          <p:cNvSpPr txBox="1"/>
          <p:nvPr>
            <p:ph type="title"/>
          </p:nvPr>
        </p:nvSpPr>
        <p:spPr>
          <a:xfrm>
            <a:off x="311700" y="315925"/>
            <a:ext cx="8520600" cy="831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Clr>
                <a:srgbClr val="000000"/>
              </a:buClr>
              <a:buSzPts val="1100"/>
              <a:buFont typeface="Arial"/>
              <a:buNone/>
            </a:pPr>
            <a:r>
              <a:rPr lang="en"/>
              <a:t>Database security and Raspberry Pi</a:t>
            </a:r>
            <a:endParaRPr/>
          </a:p>
        </p:txBody>
      </p:sp>
      <p:sp>
        <p:nvSpPr>
          <p:cNvPr id="126" name="Google Shape;126;p28"/>
          <p:cNvSpPr txBox="1"/>
          <p:nvPr/>
        </p:nvSpPr>
        <p:spPr>
          <a:xfrm>
            <a:off x="317500" y="1219200"/>
            <a:ext cx="8508900" cy="3352800"/>
          </a:xfrm>
          <a:prstGeom prst="rect">
            <a:avLst/>
          </a:prstGeom>
          <a:noFill/>
          <a:ln>
            <a:noFill/>
          </a:ln>
        </p:spPr>
        <p:txBody>
          <a:bodyPr anchorCtr="0" anchor="t" bIns="91425" lIns="91425" spcFirstLastPara="1" rIns="91425" wrap="square" tIns="91425">
            <a:noAutofit/>
          </a:bodyPr>
          <a:lstStyle/>
          <a:p>
            <a:pPr indent="-342900" lvl="0" marL="457200" rtl="0" algn="l">
              <a:lnSpc>
                <a:spcPct val="110000"/>
              </a:lnSpc>
              <a:spcBef>
                <a:spcPts val="0"/>
              </a:spcBef>
              <a:spcAft>
                <a:spcPts val="0"/>
              </a:spcAft>
              <a:buSzPts val="1800"/>
              <a:buChar char="●"/>
            </a:pPr>
            <a:r>
              <a:rPr lang="en" sz="1800"/>
              <a:t>Added parameterized queries, input validation, and application access controls.</a:t>
            </a:r>
            <a:endParaRPr sz="1800"/>
          </a:p>
          <a:p>
            <a:pPr indent="-342900" lvl="0" marL="457200" rtl="0" algn="l">
              <a:lnSpc>
                <a:spcPct val="110000"/>
              </a:lnSpc>
              <a:spcBef>
                <a:spcPts val="0"/>
              </a:spcBef>
              <a:spcAft>
                <a:spcPts val="0"/>
              </a:spcAft>
              <a:buSzPts val="1800"/>
              <a:buChar char="●"/>
            </a:pPr>
            <a:r>
              <a:rPr lang="en" sz="1800"/>
              <a:t>Loaded the updated application on the Pi and got automatic importers working.</a:t>
            </a:r>
            <a:endParaRPr sz="1800"/>
          </a:p>
          <a:p>
            <a:pPr indent="-342900" lvl="0" marL="457200" rtl="0" algn="l">
              <a:lnSpc>
                <a:spcPct val="110000"/>
              </a:lnSpc>
              <a:spcBef>
                <a:spcPts val="0"/>
              </a:spcBef>
              <a:spcAft>
                <a:spcPts val="0"/>
              </a:spcAft>
              <a:buSzPts val="1800"/>
              <a:buChar char="●"/>
            </a:pPr>
            <a:r>
              <a:rPr lang="en" sz="1800"/>
              <a:t>Next: verify DB roles, TLS, telemetry encryption, logs, and full Pi operation.</a:t>
            </a:r>
            <a:endParaRPr sz="18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29"/>
          <p:cNvSpPr txBox="1"/>
          <p:nvPr>
            <p:ph type="title"/>
          </p:nvPr>
        </p:nvSpPr>
        <p:spPr>
          <a:xfrm>
            <a:off x="311700" y="315925"/>
            <a:ext cx="8520600" cy="831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Project website</a:t>
            </a:r>
            <a:endParaRPr/>
          </a:p>
        </p:txBody>
      </p:sp>
      <p:pic>
        <p:nvPicPr>
          <p:cNvPr id="132" name="Google Shape;132;p29"/>
          <p:cNvPicPr preferRelativeResize="0"/>
          <p:nvPr/>
        </p:nvPicPr>
        <p:blipFill>
          <a:blip r:embed="rId3">
            <a:alphaModFix/>
          </a:blip>
          <a:stretch>
            <a:fillRect/>
          </a:stretch>
        </p:blipFill>
        <p:spPr>
          <a:xfrm>
            <a:off x="1644316" y="990600"/>
            <a:ext cx="5855368" cy="4000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30"/>
          <p:cNvSpPr txBox="1"/>
          <p:nvPr>
            <p:ph type="title"/>
          </p:nvPr>
        </p:nvSpPr>
        <p:spPr>
          <a:xfrm>
            <a:off x="311700" y="315925"/>
            <a:ext cx="8520600" cy="831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Python API documentation</a:t>
            </a:r>
            <a:endParaRPr/>
          </a:p>
        </p:txBody>
      </p:sp>
      <p:pic>
        <p:nvPicPr>
          <p:cNvPr id="138" name="Google Shape;138;p30"/>
          <p:cNvPicPr preferRelativeResize="0"/>
          <p:nvPr/>
        </p:nvPicPr>
        <p:blipFill>
          <a:blip r:embed="rId3">
            <a:alphaModFix/>
          </a:blip>
          <a:stretch>
            <a:fillRect/>
          </a:stretch>
        </p:blipFill>
        <p:spPr>
          <a:xfrm>
            <a:off x="1016000" y="990600"/>
            <a:ext cx="7112000" cy="4000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31"/>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Milestone 5 Matrix</a:t>
            </a:r>
            <a:endParaRPr/>
          </a:p>
        </p:txBody>
      </p:sp>
      <p:graphicFrame>
        <p:nvGraphicFramePr>
          <p:cNvPr id="144" name="Google Shape;144;p31"/>
          <p:cNvGraphicFramePr/>
          <p:nvPr/>
        </p:nvGraphicFramePr>
        <p:xfrm>
          <a:off x="311700" y="1147225"/>
          <a:ext cx="3000000" cy="3000000"/>
        </p:xfrm>
        <a:graphic>
          <a:graphicData uri="http://schemas.openxmlformats.org/drawingml/2006/table">
            <a:tbl>
              <a:tblPr>
                <a:noFill/>
                <a:tableStyleId>{462DCEE4-3205-422B-AC97-C0F56D87B947}</a:tableStyleId>
              </a:tblPr>
              <a:tblGrid>
                <a:gridCol w="2286000"/>
                <a:gridCol w="698500"/>
                <a:gridCol w="698500"/>
                <a:gridCol w="698500"/>
                <a:gridCol w="4127500"/>
              </a:tblGrid>
              <a:tr h="355600">
                <a:tc>
                  <a:txBody>
                    <a:bodyPr/>
                    <a:lstStyle/>
                    <a:p>
                      <a:pPr indent="0" lvl="0" marL="0" rtl="0" algn="ctr">
                        <a:spcBef>
                          <a:spcPts val="0"/>
                        </a:spcBef>
                        <a:spcAft>
                          <a:spcPts val="0"/>
                        </a:spcAft>
                        <a:buNone/>
                      </a:pPr>
                      <a:r>
                        <a:rPr b="1" lang="en" sz="1300">
                          <a:latin typeface="Times New Roman"/>
                          <a:ea typeface="Times New Roman"/>
                          <a:cs typeface="Times New Roman"/>
                          <a:sym typeface="Times New Roman"/>
                        </a:rPr>
                        <a:t>Task / completion</a:t>
                      </a:r>
                      <a:endParaRPr b="1"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300">
                          <a:latin typeface="Times New Roman"/>
                          <a:ea typeface="Times New Roman"/>
                          <a:cs typeface="Times New Roman"/>
                          <a:sym typeface="Times New Roman"/>
                        </a:rPr>
                        <a:t>Aidan</a:t>
                      </a:r>
                      <a:endParaRPr b="1"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300">
                          <a:latin typeface="Times New Roman"/>
                          <a:ea typeface="Times New Roman"/>
                          <a:cs typeface="Times New Roman"/>
                          <a:sym typeface="Times New Roman"/>
                        </a:rPr>
                        <a:t>Gianni</a:t>
                      </a:r>
                      <a:endParaRPr b="1"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300">
                          <a:latin typeface="Times New Roman"/>
                          <a:ea typeface="Times New Roman"/>
                          <a:cs typeface="Times New Roman"/>
                          <a:sym typeface="Times New Roman"/>
                        </a:rPr>
                        <a:t>Joanna</a:t>
                      </a:r>
                      <a:endParaRPr b="1"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300">
                          <a:latin typeface="Times New Roman"/>
                          <a:ea typeface="Times New Roman"/>
                          <a:cs typeface="Times New Roman"/>
                          <a:sym typeface="Times New Roman"/>
                        </a:rPr>
                        <a:t>To Do</a:t>
                      </a:r>
                      <a:endParaRPr b="1"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977900">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1. API authentication</a:t>
                      </a:r>
                      <a:endParaRPr sz="1300">
                        <a:latin typeface="Times New Roman"/>
                        <a:ea typeface="Times New Roman"/>
                        <a:cs typeface="Times New Roman"/>
                        <a:sym typeface="Times New Roman"/>
                      </a:endParaRPr>
                    </a:p>
                    <a:p>
                      <a:pPr indent="0" lvl="0" marL="0" rtl="0" algn="l">
                        <a:spcBef>
                          <a:spcPts val="0"/>
                        </a:spcBef>
                        <a:spcAft>
                          <a:spcPts val="0"/>
                        </a:spcAft>
                        <a:buNone/>
                      </a:pPr>
                      <a:r>
                        <a:rPr lang="en" sz="1300">
                          <a:latin typeface="Times New Roman"/>
                          <a:ea typeface="Times New Roman"/>
                          <a:cs typeface="Times New Roman"/>
                          <a:sym typeface="Times New Roman"/>
                        </a:rPr>
                        <a:t>70% complete</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15%</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45%</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10%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Complete OAuth2/JWT, rate limiting, and Pi endpoint verification.</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977900">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2. Entropy assessment and research website</a:t>
                      </a:r>
                      <a:endParaRPr sz="1300">
                        <a:latin typeface="Times New Roman"/>
                        <a:ea typeface="Times New Roman"/>
                        <a:cs typeface="Times New Roman"/>
                        <a:sym typeface="Times New Roman"/>
                      </a:endParaRPr>
                    </a:p>
                    <a:p>
                      <a:pPr indent="0" lvl="0" marL="0" rtl="0" algn="l">
                        <a:spcBef>
                          <a:spcPts val="0"/>
                        </a:spcBef>
                        <a:spcAft>
                          <a:spcPts val="0"/>
                        </a:spcAft>
                        <a:buNone/>
                      </a:pPr>
                      <a:r>
                        <a:rPr lang="en" sz="1300">
                          <a:latin typeface="Times New Roman"/>
                          <a:ea typeface="Times New Roman"/>
                          <a:cs typeface="Times New Roman"/>
                          <a:sym typeface="Times New Roman"/>
                        </a:rPr>
                        <a:t>80% complete</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60%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10%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10%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Integrate and test a NIST-approved PQC scheme. Extraction is supporting work.</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977900">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3. Database security and Pi deployment</a:t>
                      </a:r>
                      <a:endParaRPr sz="1300">
                        <a:latin typeface="Times New Roman"/>
                        <a:ea typeface="Times New Roman"/>
                        <a:cs typeface="Times New Roman"/>
                        <a:sym typeface="Times New Roman"/>
                      </a:endParaRPr>
                    </a:p>
                    <a:p>
                      <a:pPr indent="0" lvl="0" marL="0" rtl="0" algn="l">
                        <a:spcBef>
                          <a:spcPts val="0"/>
                        </a:spcBef>
                        <a:spcAft>
                          <a:spcPts val="0"/>
                        </a:spcAft>
                        <a:buNone/>
                      </a:pPr>
                      <a:r>
                        <a:rPr lang="en" sz="1300">
                          <a:latin typeface="Times New Roman"/>
                          <a:ea typeface="Times New Roman"/>
                          <a:cs typeface="Times New Roman"/>
                          <a:sym typeface="Times New Roman"/>
                        </a:rPr>
                        <a:t>70% complete</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30%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20%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20%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Verify restricted DB roles, TLS, telemetry encryption, and scrubbed audit logs.</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32"/>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Milestone 6 Matrix</a:t>
            </a:r>
            <a:endParaRPr/>
          </a:p>
        </p:txBody>
      </p:sp>
      <p:graphicFrame>
        <p:nvGraphicFramePr>
          <p:cNvPr id="150" name="Google Shape;150;p32"/>
          <p:cNvGraphicFramePr/>
          <p:nvPr/>
        </p:nvGraphicFramePr>
        <p:xfrm>
          <a:off x="311700" y="1147225"/>
          <a:ext cx="3000000" cy="3000000"/>
        </p:xfrm>
        <a:graphic>
          <a:graphicData uri="http://schemas.openxmlformats.org/drawingml/2006/table">
            <a:tbl>
              <a:tblPr>
                <a:noFill/>
                <a:tableStyleId>{462DCEE4-3205-422B-AC97-C0F56D87B947}</a:tableStyleId>
              </a:tblPr>
              <a:tblGrid>
                <a:gridCol w="2921000"/>
                <a:gridCol w="1866900"/>
                <a:gridCol w="1866900"/>
                <a:gridCol w="1854200"/>
              </a:tblGrid>
              <a:tr h="355600">
                <a:tc>
                  <a:txBody>
                    <a:bodyPr/>
                    <a:lstStyle/>
                    <a:p>
                      <a:pPr indent="0" lvl="0" marL="0" rtl="0" algn="ctr">
                        <a:spcBef>
                          <a:spcPts val="0"/>
                        </a:spcBef>
                        <a:spcAft>
                          <a:spcPts val="0"/>
                        </a:spcAft>
                        <a:buNone/>
                      </a:pPr>
                      <a:r>
                        <a:rPr b="1" lang="en" sz="1500">
                          <a:latin typeface="Times New Roman"/>
                          <a:ea typeface="Times New Roman"/>
                          <a:cs typeface="Times New Roman"/>
                          <a:sym typeface="Times New Roman"/>
                        </a:rPr>
                        <a:t>Task</a:t>
                      </a:r>
                      <a:endParaRPr b="1"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500">
                          <a:latin typeface="Times New Roman"/>
                          <a:ea typeface="Times New Roman"/>
                          <a:cs typeface="Times New Roman"/>
                          <a:sym typeface="Times New Roman"/>
                        </a:rPr>
                        <a:t>Aidan</a:t>
                      </a:r>
                      <a:endParaRPr b="1"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500">
                          <a:latin typeface="Times New Roman"/>
                          <a:ea typeface="Times New Roman"/>
                          <a:cs typeface="Times New Roman"/>
                          <a:sym typeface="Times New Roman"/>
                        </a:rPr>
                        <a:t>Gianni</a:t>
                      </a:r>
                      <a:endParaRPr b="1"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500">
                          <a:latin typeface="Times New Roman"/>
                          <a:ea typeface="Times New Roman"/>
                          <a:cs typeface="Times New Roman"/>
                          <a:sym typeface="Times New Roman"/>
                        </a:rPr>
                        <a:t>Joanna</a:t>
                      </a:r>
                      <a:endParaRPr b="1"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762000">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1. Complete authentication and PQC</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Key pipeline/PQC</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Python API/JWT</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RBAC/auth tests</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762000">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2. Finalize entropy research and validation</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Lead assessment</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Pi data collection</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Dataset validation</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762000">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3. Validate Pi deployment and security</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Integration fixes</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Lead Pi testing</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Lead DB security</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762000">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4. Finish GUI, documentation, and demo</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GUI/manual/demo</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Setup/runbook</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Usability/review</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33"/>
          <p:cNvSpPr txBox="1"/>
          <p:nvPr>
            <p:ph type="title"/>
          </p:nvPr>
        </p:nvSpPr>
        <p:spPr>
          <a:xfrm>
            <a:off x="773700" y="1806450"/>
            <a:ext cx="7596600" cy="15306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Thank you for your attention.</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uxe">
  <a:themeElements>
    <a:clrScheme name="Luxe">
      <a:dk1>
        <a:srgbClr val="000000"/>
      </a:dk1>
      <a:lt1>
        <a:srgbClr val="FFFFFF"/>
      </a:lt1>
      <a:dk2>
        <a:srgbClr val="B7B7B7"/>
      </a:dk2>
      <a:lt2>
        <a:srgbClr val="CCA677"/>
      </a:lt2>
      <a:accent1>
        <a:srgbClr val="5D4037"/>
      </a:accent1>
      <a:accent2>
        <a:srgbClr val="455A64"/>
      </a:accent2>
      <a:accent3>
        <a:srgbClr val="57BB8A"/>
      </a:accent3>
      <a:accent4>
        <a:srgbClr val="78909C"/>
      </a:accent4>
      <a:accent5>
        <a:srgbClr val="607D8B"/>
      </a:accent5>
      <a:accent6>
        <a:srgbClr val="DCE755"/>
      </a:accent6>
      <a:hlink>
        <a:srgbClr val="607D8B"/>
      </a:hlink>
      <a:folHlink>
        <a:srgbClr val="607D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