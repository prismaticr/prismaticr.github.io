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72C4ED-3377-472F-ABA6-46A9DA1284C0}">
  <a:tblStyle styleId="{2C72C4ED-3377-472F-ABA6-46A9DA1284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11" Type="http://schemas.openxmlformats.org/officeDocument/2006/relationships/slide" Target="slides/slide4.xml"/><Relationship Id="rId22" Type="http://schemas.openxmlformats.org/officeDocument/2006/relationships/font" Target="fonts/OpenSans-bold.fntdata"/><Relationship Id="rId10" Type="http://schemas.openxmlformats.org/officeDocument/2006/relationships/slide" Target="slides/slide3.xml"/><Relationship Id="rId21" Type="http://schemas.openxmlformats.org/officeDocument/2006/relationships/font" Target="fonts/OpenSans-regular.fntdata"/><Relationship Id="rId13" Type="http://schemas.openxmlformats.org/officeDocument/2006/relationships/slide" Target="slides/slide6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5.xml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Economica-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Economica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464d6e54cce73a7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464d6e54cce73a7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64d6e54cce73a76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464d6e54cce73a76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64d6e54cce73a76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64d6e54cce73a76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464d6e54cce73a76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464d6e54cce73a76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464d6e54cce73a76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464d6e54cce73a7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502c232f49c63798_1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h502c232f49c63798_1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Technical assumptions: H_min(block) ≈ N h requires an entropy model that supports accumulation across samples. Toeplitz hashing forms a 2-universal family when selected with a seed independent of the input. The seed need not be secret.</a:t>
            </a:r>
            <a:endParaRPr/>
          </a:p>
        </p:txBody>
      </p:sp>
      <p:sp>
        <p:nvSpPr>
          <p:cNvPr id="142" name="Google Shape;142;h502c232f49c63798_1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464d6e54cce73a76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464d6e54cce73a76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464d6e54cce73a76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464d6e54cce73a76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464d6e54cce73a7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464d6e54cce73a7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lUHyrtamfVBrWXlZb8K-dOrh9ZB6GH-n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331050" y="1023125"/>
            <a:ext cx="8481900" cy="19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Economica"/>
                <a:ea typeface="Economica"/>
                <a:cs typeface="Economica"/>
                <a:sym typeface="Economica"/>
              </a:rPr>
              <a:t>Project Ragnarok: </a:t>
            </a:r>
            <a:endParaRPr sz="42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Economica"/>
                <a:ea typeface="Economica"/>
                <a:cs typeface="Economica"/>
                <a:sym typeface="Economica"/>
              </a:rPr>
              <a:t>Post-Quantum Cybersecurity with Lightning data</a:t>
            </a:r>
            <a:endParaRPr sz="42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>
            <a:off x="2567275" y="2983925"/>
            <a:ext cx="38472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Team Members: Joanna Zhang, Gianni Bubb, </a:t>
            </a:r>
            <a:endParaRPr sz="18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Aidan Nelappana</a:t>
            </a:r>
            <a:endParaRPr sz="18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Faculty Advisor and Client: Dr. Bhattacharyya </a:t>
            </a:r>
            <a:endParaRPr sz="18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Dr. Amitabh Nag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Rust server on Raspberry Pi</a:t>
            </a:r>
            <a:endParaRPr/>
          </a:p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225225"/>
            <a:ext cx="8520600" cy="9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Run the webserver on the Raspberry Pi and tackle any bugs that could arise while preparing the product.</a:t>
            </a:r>
            <a:endParaRPr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00" y="2292025"/>
            <a:ext cx="6987388" cy="262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/>
          <p:nvPr/>
        </p:nvSpPr>
        <p:spPr>
          <a:xfrm>
            <a:off x="0" y="5029401"/>
            <a:ext cx="9144000" cy="114300"/>
          </a:xfrm>
          <a:prstGeom prst="rect">
            <a:avLst/>
          </a:prstGeom>
          <a:solidFill>
            <a:srgbClr val="CFA16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 d</a:t>
            </a:r>
            <a:r>
              <a:rPr lang="en"/>
              <a:t>ata fetchers</a:t>
            </a:r>
            <a:endParaRPr/>
          </a:p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311700" y="1225225"/>
            <a:ext cx="852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Fully integrate the data fetchers of different proposed sources of high entropy data. This data will be prepared for efficient storage and security.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867300" y="3158625"/>
            <a:ext cx="616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https://drive.google.com/file/d/1lUHyrtamfVBrWXlZb8K-dOrh9ZB6GH-n/view?usp=sharing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0" y="5029401"/>
            <a:ext cx="9144000" cy="114300"/>
          </a:xfrm>
          <a:prstGeom prst="rect">
            <a:avLst/>
          </a:prstGeom>
          <a:solidFill>
            <a:srgbClr val="CFA16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Entropy analysis and maximization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225225"/>
            <a:ext cx="852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Gather enough data in order to ensure statistical accuracy in our minimum entropy results for baseline testing</a:t>
            </a:r>
            <a:endParaRPr/>
          </a:p>
        </p:txBody>
      </p:sp>
      <p:sp>
        <p:nvSpPr>
          <p:cNvPr id="131" name="Google Shape;131;p28"/>
          <p:cNvSpPr/>
          <p:nvPr/>
        </p:nvSpPr>
        <p:spPr>
          <a:xfrm>
            <a:off x="0" y="5029401"/>
            <a:ext cx="9144000" cy="114300"/>
          </a:xfrm>
          <a:prstGeom prst="rect">
            <a:avLst/>
          </a:prstGeom>
          <a:solidFill>
            <a:srgbClr val="CFA16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Gather high entropy data sets</a:t>
            </a:r>
            <a:endParaRPr/>
          </a:p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311700" y="1225225"/>
            <a:ext cx="852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Finalize and implement the entropy analysis and maximization tools for the server; this includes a fast implementation of Toeplitz Hashing and SHA-3.</a:t>
            </a:r>
            <a:endParaRPr/>
          </a:p>
        </p:txBody>
      </p:sp>
      <p:sp>
        <p:nvSpPr>
          <p:cNvPr id="138" name="Google Shape;138;p29"/>
          <p:cNvSpPr/>
          <p:nvPr/>
        </p:nvSpPr>
        <p:spPr>
          <a:xfrm>
            <a:off x="0" y="5029401"/>
            <a:ext cx="9144000" cy="114300"/>
          </a:xfrm>
          <a:prstGeom prst="rect">
            <a:avLst/>
          </a:prstGeom>
          <a:solidFill>
            <a:srgbClr val="CFA16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/>
          <p:nvPr/>
        </p:nvSpPr>
        <p:spPr>
          <a:xfrm>
            <a:off x="371475" y="128588"/>
            <a:ext cx="60723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101010"/>
                </a:solidFill>
                <a:latin typeface="Economica"/>
                <a:ea typeface="Economica"/>
                <a:cs typeface="Economica"/>
                <a:sym typeface="Economica"/>
              </a:rPr>
              <a:t>Minimum entropy calculations</a:t>
            </a:r>
            <a:endParaRPr sz="2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5" name="Google Shape;145;p30"/>
          <p:cNvSpPr/>
          <p:nvPr/>
        </p:nvSpPr>
        <p:spPr>
          <a:xfrm>
            <a:off x="385763" y="871538"/>
            <a:ext cx="7929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5656"/>
                </a:solidFill>
                <a:latin typeface="Open Sans"/>
                <a:ea typeface="Open Sans"/>
                <a:cs typeface="Open Sans"/>
                <a:sym typeface="Open Sans"/>
              </a:rPr>
              <a:t>Lightning measurements become usable key material only after conservative entropy estimation and extraction.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30"/>
          <p:cNvSpPr/>
          <p:nvPr/>
        </p:nvSpPr>
        <p:spPr>
          <a:xfrm>
            <a:off x="1064419" y="1500188"/>
            <a:ext cx="6215100" cy="21300"/>
          </a:xfrm>
          <a:prstGeom prst="rect">
            <a:avLst/>
          </a:prstGeom>
          <a:solidFill>
            <a:srgbClr val="CFA16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30"/>
          <p:cNvSpPr/>
          <p:nvPr/>
        </p:nvSpPr>
        <p:spPr>
          <a:xfrm>
            <a:off x="678656" y="1314450"/>
            <a:ext cx="385800" cy="385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CFA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30"/>
          <p:cNvSpPr/>
          <p:nvPr/>
        </p:nvSpPr>
        <p:spPr>
          <a:xfrm>
            <a:off x="714375" y="1350169"/>
            <a:ext cx="314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FA16C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30"/>
          <p:cNvSpPr/>
          <p:nvPr/>
        </p:nvSpPr>
        <p:spPr>
          <a:xfrm>
            <a:off x="0" y="1757363"/>
            <a:ext cx="180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Lightning data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30"/>
          <p:cNvSpPr/>
          <p:nvPr/>
        </p:nvSpPr>
        <p:spPr>
          <a:xfrm>
            <a:off x="0" y="1985963"/>
            <a:ext cx="18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65656"/>
                </a:solidFill>
                <a:latin typeface="Open Sans"/>
                <a:ea typeface="Open Sans"/>
                <a:cs typeface="Open Sans"/>
                <a:sym typeface="Open Sans"/>
              </a:rPr>
              <a:t>raw timing + sensor samples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30"/>
          <p:cNvSpPr/>
          <p:nvPr/>
        </p:nvSpPr>
        <p:spPr>
          <a:xfrm>
            <a:off x="2878931" y="1314450"/>
            <a:ext cx="385800" cy="385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CFA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30"/>
          <p:cNvSpPr/>
          <p:nvPr/>
        </p:nvSpPr>
        <p:spPr>
          <a:xfrm>
            <a:off x="2914650" y="1350169"/>
            <a:ext cx="314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FA16C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30"/>
          <p:cNvSpPr/>
          <p:nvPr/>
        </p:nvSpPr>
        <p:spPr>
          <a:xfrm>
            <a:off x="2171700" y="1757363"/>
            <a:ext cx="180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Min-entropy estimate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2128838" y="1985963"/>
            <a:ext cx="18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65656"/>
                </a:solidFill>
                <a:latin typeface="Open Sans"/>
                <a:ea typeface="Open Sans"/>
                <a:cs typeface="Open Sans"/>
                <a:sym typeface="Open Sans"/>
              </a:rPr>
              <a:t>NIST SP 800-90B gives h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5079206" y="1314450"/>
            <a:ext cx="385800" cy="385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CFA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5114925" y="1350169"/>
            <a:ext cx="314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FA16C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4371975" y="1757363"/>
            <a:ext cx="180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Toeplitz extractor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4329113" y="1985963"/>
            <a:ext cx="18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65656"/>
                </a:solidFill>
                <a:latin typeface="Open Sans"/>
                <a:ea typeface="Open Sans"/>
                <a:cs typeface="Open Sans"/>
                <a:sym typeface="Open Sans"/>
              </a:rPr>
              <a:t>2-universal hashing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30"/>
          <p:cNvSpPr/>
          <p:nvPr/>
        </p:nvSpPr>
        <p:spPr>
          <a:xfrm>
            <a:off x="7279481" y="1314450"/>
            <a:ext cx="385800" cy="385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CFA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7315200" y="1350169"/>
            <a:ext cx="314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FA16C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6572250" y="1757363"/>
            <a:ext cx="180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256 near-uniform bits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30"/>
          <p:cNvSpPr/>
          <p:nvPr/>
        </p:nvSpPr>
        <p:spPr>
          <a:xfrm>
            <a:off x="6529388" y="1985963"/>
            <a:ext cx="18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65656"/>
                </a:solidFill>
                <a:latin typeface="Open Sans"/>
                <a:ea typeface="Open Sans"/>
                <a:cs typeface="Open Sans"/>
                <a:sym typeface="Open Sans"/>
              </a:rPr>
              <a:t>statistical distance ≤ 2⁻⁶⁴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30"/>
          <p:cNvSpPr/>
          <p:nvPr/>
        </p:nvSpPr>
        <p:spPr>
          <a:xfrm>
            <a:off x="385763" y="2500313"/>
            <a:ext cx="35700" cy="1328700"/>
          </a:xfrm>
          <a:prstGeom prst="rect">
            <a:avLst/>
          </a:prstGeom>
          <a:solidFill>
            <a:srgbClr val="CFA16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30"/>
          <p:cNvSpPr/>
          <p:nvPr/>
        </p:nvSpPr>
        <p:spPr>
          <a:xfrm>
            <a:off x="557213" y="2414588"/>
            <a:ext cx="3071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Entropy accumulation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557213" y="2700338"/>
            <a:ext cx="3071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Hₘ</a:t>
            </a:r>
            <a:r>
              <a:rPr b="1" lang="en" sz="15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ᵢ</a:t>
            </a:r>
            <a:r>
              <a:rPr b="1" lang="en" sz="15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ₙ(block) ≈ N h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557213" y="3050381"/>
            <a:ext cx="3143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Example: h = 0.25 bits/sample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30"/>
          <p:cNvSpPr/>
          <p:nvPr/>
        </p:nvSpPr>
        <p:spPr>
          <a:xfrm>
            <a:off x="557213" y="3307556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9B6830"/>
                </a:solidFill>
                <a:latin typeface="Open Sans"/>
                <a:ea typeface="Open Sans"/>
                <a:cs typeface="Open Sans"/>
                <a:sym typeface="Open Sans"/>
              </a:rPr>
              <a:t>N ≥ 384 / 0.25 = 1,536 samples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557213" y="3586163"/>
            <a:ext cx="3343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65656"/>
                </a:solidFill>
                <a:latin typeface="Open Sans"/>
                <a:ea typeface="Open Sans"/>
                <a:cs typeface="Open Sans"/>
                <a:sym typeface="Open Sans"/>
              </a:rPr>
              <a:t>This multiplication requires an entropy model that supports accumulation across samples.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30"/>
          <p:cNvSpPr/>
          <p:nvPr/>
        </p:nvSpPr>
        <p:spPr>
          <a:xfrm>
            <a:off x="4572000" y="2500313"/>
            <a:ext cx="35700" cy="1328700"/>
          </a:xfrm>
          <a:prstGeom prst="rect">
            <a:avLst/>
          </a:prstGeom>
          <a:solidFill>
            <a:srgbClr val="CFA16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30"/>
          <p:cNvSpPr/>
          <p:nvPr/>
        </p:nvSpPr>
        <p:spPr>
          <a:xfrm>
            <a:off x="4743450" y="2414588"/>
            <a:ext cx="3071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Leftover hash lemma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30"/>
          <p:cNvSpPr/>
          <p:nvPr/>
        </p:nvSpPr>
        <p:spPr>
          <a:xfrm>
            <a:off x="4743450" y="2700338"/>
            <a:ext cx="3571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m ≤ k − 2 log₂(1/ε)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4743450" y="3050381"/>
            <a:ext cx="3571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Target: k = 384 bits, m = 256 bits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4743450" y="3307556"/>
            <a:ext cx="3571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9B6830"/>
                </a:solidFill>
                <a:latin typeface="Open Sans"/>
                <a:ea typeface="Open Sans"/>
                <a:cs typeface="Open Sans"/>
                <a:sym typeface="Open Sans"/>
              </a:rPr>
              <a:t>ε ≈ 2⁻⁽³⁸⁴⁻²⁵⁶⁾ ⁄ ² = 2⁻⁶⁴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4743450" y="3586163"/>
            <a:ext cx="3571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65656"/>
                </a:solidFill>
                <a:latin typeface="Open Sans"/>
                <a:ea typeface="Open Sans"/>
                <a:cs typeface="Open Sans"/>
                <a:sym typeface="Open Sans"/>
              </a:rPr>
              <a:t>The 256-bit output lies within 2⁻⁶⁴ statistical distance of a uniform string.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0" y="5029401"/>
            <a:ext cx="9144000" cy="114300"/>
          </a:xfrm>
          <a:prstGeom prst="rect">
            <a:avLst/>
          </a:prstGeom>
          <a:solidFill>
            <a:srgbClr val="CFA16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385763" y="4214813"/>
            <a:ext cx="8372400" cy="720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30"/>
          <p:cNvSpPr/>
          <p:nvPr/>
        </p:nvSpPr>
        <p:spPr>
          <a:xfrm>
            <a:off x="385763" y="4329113"/>
            <a:ext cx="300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Near-uniform, not perfectly uniform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3343275" y="4286250"/>
            <a:ext cx="5415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65656"/>
                </a:solidFill>
                <a:latin typeface="Open Sans"/>
                <a:ea typeface="Open Sans"/>
                <a:cs typeface="Open Sans"/>
                <a:sym typeface="Open Sans"/>
              </a:rPr>
              <a:t>The Toeplitz seed must be independent of the lightning input. It may be public and need not be secret.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1985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4 Matrix</a:t>
            </a:r>
            <a:endParaRPr/>
          </a:p>
        </p:txBody>
      </p:sp>
      <p:graphicFrame>
        <p:nvGraphicFramePr>
          <p:cNvPr id="184" name="Google Shape;184;p31"/>
          <p:cNvGraphicFramePr/>
          <p:nvPr/>
        </p:nvGraphicFramePr>
        <p:xfrm>
          <a:off x="1196738" y="96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{2C72C4ED-3377-472F-ABA6-46A9DA1284C0}</a:tableStyleId>
              </a:tblPr>
              <a:tblGrid>
                <a:gridCol w="1114425"/>
                <a:gridCol w="1095375"/>
                <a:gridCol w="733425"/>
                <a:gridCol w="838200"/>
                <a:gridCol w="933450"/>
                <a:gridCol w="1924050"/>
              </a:tblGrid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Completion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Aidan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Gianni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Joanna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Do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Test Rust Server on Raspberry Pi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 database importation and ensure expected behavior continues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Data fetchers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Finalize automated fetch scripts and error handling for dropped API connections.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Entropy analysis and maximization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 statistical randomness testing (NIST SP 800-22 suite) on normalized datasets.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Gather high entropy data sets with over 10^6 samples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completed. Datasets stored and formatted for model ingest.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</a:t>
            </a:r>
            <a:r>
              <a:rPr lang="en"/>
              <a:t>5 Task</a:t>
            </a:r>
            <a:r>
              <a:rPr lang="en"/>
              <a:t> Matrix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455400"/>
            <a:ext cx="8588700" cy="3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Fully implement and secure the Python API using token-based authentication (OAuth2/JWT).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NIST-approved Post-Quantum Cryptography (PQC) schemes into the key generation pipeline.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end-to-end database security and access control mechanisms for raw lightning telemetry data.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