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y="5143500" cx="9144000"/>
  <p:notesSz cx="6858000" cy="9144000"/>
  <p:embeddedFontLst>
    <p:embeddedFont>
      <p:font typeface="Economica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2A51E4-7181-481E-9C1D-C2D1FE825318}">
  <a:tblStyle styleId="{632A51E4-7181-481E-9C1D-C2D1FE82531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conomica-boldItalic.fntdata"/><Relationship Id="rId11" Type="http://schemas.openxmlformats.org/officeDocument/2006/relationships/slide" Target="slides/slide4.xml"/><Relationship Id="rId22" Type="http://schemas.openxmlformats.org/officeDocument/2006/relationships/font" Target="fonts/OpenSans-bold.fntdata"/><Relationship Id="rId10" Type="http://schemas.openxmlformats.org/officeDocument/2006/relationships/slide" Target="slides/slide3.xml"/><Relationship Id="rId21" Type="http://schemas.openxmlformats.org/officeDocument/2006/relationships/font" Target="fonts/OpenSans-regular.fntdata"/><Relationship Id="rId13" Type="http://schemas.openxmlformats.org/officeDocument/2006/relationships/slide" Target="slides/slide6.xml"/><Relationship Id="rId24" Type="http://schemas.openxmlformats.org/officeDocument/2006/relationships/font" Target="fonts/OpenSans-boldItalic.fntdata"/><Relationship Id="rId12" Type="http://schemas.openxmlformats.org/officeDocument/2006/relationships/slide" Target="slides/slide5.xml"/><Relationship Id="rId23" Type="http://schemas.openxmlformats.org/officeDocument/2006/relationships/font" Target="fonts/OpenSans-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font" Target="fonts/Economica-regular.fntdata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font" Target="fonts/Economica-italic.fntdata"/><Relationship Id="rId6" Type="http://schemas.openxmlformats.org/officeDocument/2006/relationships/slideMaster" Target="slideMasters/slideMaster2.xml"/><Relationship Id="rId18" Type="http://schemas.openxmlformats.org/officeDocument/2006/relationships/font" Target="fonts/Economica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464d6e54cce73a76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464d6e54cce73a76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464d6e54cce73a76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h464d6e54cce73a76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h464d6e54cce73a76_0_3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h464d6e54cce73a76_0_3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464d6e54cce73a76_0_3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h464d6e54cce73a76_0_3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464d6e54cce73a76_0_3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h464d6e54cce73a76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502c232f49c63798_11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h502c232f49c63798_11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Technical assumptions: H_min(block) ≈ N h requires an entropy model that supports accumulation across samples. Toeplitz hashing forms a 2-universal family when selected with a seed independent of the input. The seed need not be secret.</a:t>
            </a:r>
            <a:endParaRPr/>
          </a:p>
        </p:txBody>
      </p:sp>
      <p:sp>
        <p:nvSpPr>
          <p:cNvPr id="142" name="Google Shape;142;h502c232f49c63798_11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h464d6e54cce73a76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h464d6e54cce73a76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Task 1 the purpose for the 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raspberry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 pi testing is due to the 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request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 from advisor and customer for the 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simplest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 way to run project 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ragnarok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 locally </a:t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Task 2 to finalize data fetchers is to fix up the data fecher to better </a:t>
            </a: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retrieve, restore, and deliver the data in between the database and API </a:t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Task 3 We finally received 1 million lightning data points from Dr.Nag. we are analyzing and testing the data to obtain a statistically accurate min entropy calculation to quantify randomness</a:t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latin typeface="Times New Roman"/>
                <a:ea typeface="Times New Roman"/>
                <a:cs typeface="Times New Roman"/>
                <a:sym typeface="Times New Roman"/>
              </a:rPr>
              <a:t>Task 4 Get the lightning data</a:t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464d6e54cce73a76_0_3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h464d6e54cce73a76_0_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464d6e54cce73a76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h464d6e54cce73a76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6" name="Google Shape;56;p14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7" name="Google Shape;57;p14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62" name="Google Shape;62;p15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63" name="Google Shape;63;p15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7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1" name="Google Shape;8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0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20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1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8" name="Google Shape;88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21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0" name="Google Shape;90;p21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91" name="Google Shape;91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2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3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" name="Google Shape;99;p23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0" name="Google Shape;10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drive.google.com/file/d/1lUHyrtamfVBrWXlZb8K-dOrh9ZB6GH-n/view?usp=sharing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ctrTitle"/>
          </p:nvPr>
        </p:nvSpPr>
        <p:spPr>
          <a:xfrm>
            <a:off x="331050" y="1023125"/>
            <a:ext cx="8481900" cy="196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Project Ragnarok: 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Post-Quantum Cybersecurity with Lightning data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8" name="Google Shape;108;p25"/>
          <p:cNvSpPr txBox="1"/>
          <p:nvPr/>
        </p:nvSpPr>
        <p:spPr>
          <a:xfrm>
            <a:off x="2567275" y="2983925"/>
            <a:ext cx="3847200" cy="12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Team Members: Joanna Zhang, Gianni Bubb, 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Aidan Nelappana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Faculty Advisor and Client: Dr. Bhattacharyya 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Dr. Amitabh Nag</a:t>
            </a:r>
            <a:endParaRPr sz="1800"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Rust server on Raspberry Pi</a:t>
            </a:r>
            <a:endParaRPr/>
          </a:p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311700" y="1225225"/>
            <a:ext cx="8520600" cy="98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Run the webserver on the Raspberry Pi and tackle any bugs that could arise while preparing the product.</a:t>
            </a:r>
            <a:endParaRPr/>
          </a:p>
        </p:txBody>
      </p:sp>
      <p:pic>
        <p:nvPicPr>
          <p:cNvPr id="115" name="Google Shape;11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8300" y="2292025"/>
            <a:ext cx="6987388" cy="2624674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6"/>
          <p:cNvSpPr/>
          <p:nvPr/>
        </p:nvSpPr>
        <p:spPr>
          <a:xfrm>
            <a:off x="0" y="5029401"/>
            <a:ext cx="9144000" cy="114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Integrate d</a:t>
            </a:r>
            <a:r>
              <a:rPr lang="en"/>
              <a:t>ata fetchers</a:t>
            </a:r>
            <a:endParaRPr/>
          </a:p>
        </p:txBody>
      </p:sp>
      <p:sp>
        <p:nvSpPr>
          <p:cNvPr id="122" name="Google Shape;122;p27"/>
          <p:cNvSpPr txBox="1"/>
          <p:nvPr>
            <p:ph idx="1" type="body"/>
          </p:nvPr>
        </p:nvSpPr>
        <p:spPr>
          <a:xfrm>
            <a:off x="311700" y="1225225"/>
            <a:ext cx="85221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Fully integrate the data fetchers of different proposed sources of high entropy data. This data will be prepared for efficient storage and security.</a:t>
            </a:r>
            <a:endParaRPr sz="1800"/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7"/>
          <p:cNvSpPr txBox="1"/>
          <p:nvPr/>
        </p:nvSpPr>
        <p:spPr>
          <a:xfrm>
            <a:off x="867300" y="3158625"/>
            <a:ext cx="6167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https://drive.google.com/file/d/1lUHyrtamfVBrWXlZb8K-dOrh9ZB6GH-n/view?usp=sharing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4" name="Google Shape;124;p27"/>
          <p:cNvSpPr/>
          <p:nvPr/>
        </p:nvSpPr>
        <p:spPr>
          <a:xfrm>
            <a:off x="0" y="5029401"/>
            <a:ext cx="9144000" cy="114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Entropy analysis and maximization</a:t>
            </a:r>
            <a:endParaRPr/>
          </a:p>
        </p:txBody>
      </p:sp>
      <p:sp>
        <p:nvSpPr>
          <p:cNvPr id="130" name="Google Shape;130;p28"/>
          <p:cNvSpPr txBox="1"/>
          <p:nvPr>
            <p:ph idx="1" type="body"/>
          </p:nvPr>
        </p:nvSpPr>
        <p:spPr>
          <a:xfrm>
            <a:off x="311700" y="1225225"/>
            <a:ext cx="85221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Gather enough data in order to ensure statistical accuracy in our minimum entropy results for baseline testing</a:t>
            </a:r>
            <a:endParaRPr/>
          </a:p>
        </p:txBody>
      </p:sp>
      <p:sp>
        <p:nvSpPr>
          <p:cNvPr id="131" name="Google Shape;131;p28"/>
          <p:cNvSpPr/>
          <p:nvPr/>
        </p:nvSpPr>
        <p:spPr>
          <a:xfrm>
            <a:off x="0" y="5029401"/>
            <a:ext cx="9144000" cy="114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Gather high entropy data sets</a:t>
            </a:r>
            <a:endParaRPr/>
          </a:p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311700" y="1225225"/>
            <a:ext cx="85221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Finalize and implement the entropy analysis and maximization tools for the server; this includes a fast implementation of Toeplitz Hashing and SHA-3.</a:t>
            </a:r>
            <a:endParaRPr/>
          </a:p>
        </p:txBody>
      </p:sp>
      <p:sp>
        <p:nvSpPr>
          <p:cNvPr id="138" name="Google Shape;138;p29"/>
          <p:cNvSpPr/>
          <p:nvPr/>
        </p:nvSpPr>
        <p:spPr>
          <a:xfrm>
            <a:off x="0" y="5029401"/>
            <a:ext cx="9144000" cy="114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/>
          <p:nvPr/>
        </p:nvSpPr>
        <p:spPr>
          <a:xfrm>
            <a:off x="371475" y="128588"/>
            <a:ext cx="6072300" cy="5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rgbClr val="101010"/>
                </a:solidFill>
                <a:latin typeface="Economica"/>
                <a:ea typeface="Economica"/>
                <a:cs typeface="Economica"/>
                <a:sym typeface="Economica"/>
              </a:rPr>
              <a:t>Minimum entropy calculations</a:t>
            </a:r>
            <a:endParaRPr sz="2600"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45" name="Google Shape;145;p30"/>
          <p:cNvSpPr/>
          <p:nvPr/>
        </p:nvSpPr>
        <p:spPr>
          <a:xfrm>
            <a:off x="385763" y="871538"/>
            <a:ext cx="79296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Lightning measurements become usable key material only after conservative entropy estimation and extraction.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6" name="Google Shape;146;p30"/>
          <p:cNvSpPr/>
          <p:nvPr/>
        </p:nvSpPr>
        <p:spPr>
          <a:xfrm>
            <a:off x="1064419" y="1500188"/>
            <a:ext cx="6215100" cy="21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7" name="Google Shape;147;p30"/>
          <p:cNvSpPr/>
          <p:nvPr/>
        </p:nvSpPr>
        <p:spPr>
          <a:xfrm>
            <a:off x="678656" y="1314450"/>
            <a:ext cx="385800" cy="3858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CFA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8" name="Google Shape;148;p30"/>
          <p:cNvSpPr/>
          <p:nvPr/>
        </p:nvSpPr>
        <p:spPr>
          <a:xfrm>
            <a:off x="714375" y="1350169"/>
            <a:ext cx="3144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CFA16C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9" name="Google Shape;149;p30"/>
          <p:cNvSpPr/>
          <p:nvPr/>
        </p:nvSpPr>
        <p:spPr>
          <a:xfrm>
            <a:off x="0" y="1757363"/>
            <a:ext cx="1800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Lightning data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0" name="Google Shape;150;p30"/>
          <p:cNvSpPr/>
          <p:nvPr/>
        </p:nvSpPr>
        <p:spPr>
          <a:xfrm>
            <a:off x="0" y="1985963"/>
            <a:ext cx="18858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raw timing + sensor samples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1" name="Google Shape;151;p30"/>
          <p:cNvSpPr/>
          <p:nvPr/>
        </p:nvSpPr>
        <p:spPr>
          <a:xfrm>
            <a:off x="2878931" y="1314450"/>
            <a:ext cx="385800" cy="3858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CFA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2" name="Google Shape;152;p30"/>
          <p:cNvSpPr/>
          <p:nvPr/>
        </p:nvSpPr>
        <p:spPr>
          <a:xfrm>
            <a:off x="2914650" y="1350169"/>
            <a:ext cx="3144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CFA16C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3" name="Google Shape;153;p30"/>
          <p:cNvSpPr/>
          <p:nvPr/>
        </p:nvSpPr>
        <p:spPr>
          <a:xfrm>
            <a:off x="2171700" y="1757363"/>
            <a:ext cx="1800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Min-entropy estimate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4" name="Google Shape;154;p30"/>
          <p:cNvSpPr/>
          <p:nvPr/>
        </p:nvSpPr>
        <p:spPr>
          <a:xfrm>
            <a:off x="2128838" y="1985963"/>
            <a:ext cx="18858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NIST SP 800-90B gives h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p30"/>
          <p:cNvSpPr/>
          <p:nvPr/>
        </p:nvSpPr>
        <p:spPr>
          <a:xfrm>
            <a:off x="5079206" y="1314450"/>
            <a:ext cx="385800" cy="3858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CFA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6" name="Google Shape;156;p30"/>
          <p:cNvSpPr/>
          <p:nvPr/>
        </p:nvSpPr>
        <p:spPr>
          <a:xfrm>
            <a:off x="5114925" y="1350169"/>
            <a:ext cx="3144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CFA16C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7" name="Google Shape;157;p30"/>
          <p:cNvSpPr/>
          <p:nvPr/>
        </p:nvSpPr>
        <p:spPr>
          <a:xfrm>
            <a:off x="4371975" y="1757363"/>
            <a:ext cx="1800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Toeplitz extractor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8" name="Google Shape;158;p30"/>
          <p:cNvSpPr/>
          <p:nvPr/>
        </p:nvSpPr>
        <p:spPr>
          <a:xfrm>
            <a:off x="4329113" y="1985963"/>
            <a:ext cx="18858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2-universal hashing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9" name="Google Shape;159;p30"/>
          <p:cNvSpPr/>
          <p:nvPr/>
        </p:nvSpPr>
        <p:spPr>
          <a:xfrm>
            <a:off x="7279481" y="1314450"/>
            <a:ext cx="385800" cy="3858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CFA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0" name="Google Shape;160;p30"/>
          <p:cNvSpPr/>
          <p:nvPr/>
        </p:nvSpPr>
        <p:spPr>
          <a:xfrm>
            <a:off x="7315200" y="1350169"/>
            <a:ext cx="3144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CFA16C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1" name="Google Shape;161;p30"/>
          <p:cNvSpPr/>
          <p:nvPr/>
        </p:nvSpPr>
        <p:spPr>
          <a:xfrm>
            <a:off x="6572250" y="1757363"/>
            <a:ext cx="1800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256 near-uniform bits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2" name="Google Shape;162;p30"/>
          <p:cNvSpPr/>
          <p:nvPr/>
        </p:nvSpPr>
        <p:spPr>
          <a:xfrm>
            <a:off x="6529388" y="1985963"/>
            <a:ext cx="18858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statistical distance ≤ 2⁻⁶⁴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30"/>
          <p:cNvSpPr/>
          <p:nvPr/>
        </p:nvSpPr>
        <p:spPr>
          <a:xfrm>
            <a:off x="385763" y="2500313"/>
            <a:ext cx="35700" cy="13287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4" name="Google Shape;164;p30"/>
          <p:cNvSpPr/>
          <p:nvPr/>
        </p:nvSpPr>
        <p:spPr>
          <a:xfrm>
            <a:off x="557213" y="2414588"/>
            <a:ext cx="30717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Entropy accumulation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30"/>
          <p:cNvSpPr/>
          <p:nvPr/>
        </p:nvSpPr>
        <p:spPr>
          <a:xfrm>
            <a:off x="557213" y="2700338"/>
            <a:ext cx="30717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Hₘ</a:t>
            </a:r>
            <a:r>
              <a:rPr b="1" lang="en" sz="15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ᵢ</a:t>
            </a:r>
            <a:r>
              <a:rPr b="1" lang="en" sz="15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ₙ(block) ≈ N h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6" name="Google Shape;166;p30"/>
          <p:cNvSpPr/>
          <p:nvPr/>
        </p:nvSpPr>
        <p:spPr>
          <a:xfrm>
            <a:off x="557213" y="3050381"/>
            <a:ext cx="3143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Example: h = 0.25 bits/sample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7" name="Google Shape;167;p30"/>
          <p:cNvSpPr/>
          <p:nvPr/>
        </p:nvSpPr>
        <p:spPr>
          <a:xfrm>
            <a:off x="557213" y="3307556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9B6830"/>
                </a:solidFill>
                <a:latin typeface="Open Sans"/>
                <a:ea typeface="Open Sans"/>
                <a:cs typeface="Open Sans"/>
                <a:sym typeface="Open Sans"/>
              </a:rPr>
              <a:t>N ≥ 384 / 0.25 = 1,536 samples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8" name="Google Shape;168;p30"/>
          <p:cNvSpPr/>
          <p:nvPr/>
        </p:nvSpPr>
        <p:spPr>
          <a:xfrm>
            <a:off x="557213" y="3586163"/>
            <a:ext cx="33432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This multiplication requires an entropy model that supports accumulation across samples.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9" name="Google Shape;169;p30"/>
          <p:cNvSpPr/>
          <p:nvPr/>
        </p:nvSpPr>
        <p:spPr>
          <a:xfrm>
            <a:off x="4572000" y="2500313"/>
            <a:ext cx="35700" cy="13287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0" name="Google Shape;170;p30"/>
          <p:cNvSpPr/>
          <p:nvPr/>
        </p:nvSpPr>
        <p:spPr>
          <a:xfrm>
            <a:off x="4743450" y="2414588"/>
            <a:ext cx="30717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Leftover hash lemma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1" name="Google Shape;171;p30"/>
          <p:cNvSpPr/>
          <p:nvPr/>
        </p:nvSpPr>
        <p:spPr>
          <a:xfrm>
            <a:off x="4743450" y="2700338"/>
            <a:ext cx="35718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m ≤ k − 2 log₂(1/ε)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2" name="Google Shape;172;p30"/>
          <p:cNvSpPr/>
          <p:nvPr/>
        </p:nvSpPr>
        <p:spPr>
          <a:xfrm>
            <a:off x="4743450" y="3050381"/>
            <a:ext cx="3571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Target: k = 384 bits, m = 256 bits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3" name="Google Shape;173;p30"/>
          <p:cNvSpPr/>
          <p:nvPr/>
        </p:nvSpPr>
        <p:spPr>
          <a:xfrm>
            <a:off x="4743450" y="3307556"/>
            <a:ext cx="35718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9B6830"/>
                </a:solidFill>
                <a:latin typeface="Open Sans"/>
                <a:ea typeface="Open Sans"/>
                <a:cs typeface="Open Sans"/>
                <a:sym typeface="Open Sans"/>
              </a:rPr>
              <a:t>ε ≈ 2⁻⁽³⁸⁴⁻²⁵⁶⁾ ⁄ ² = 2⁻⁶⁴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4" name="Google Shape;174;p30"/>
          <p:cNvSpPr/>
          <p:nvPr/>
        </p:nvSpPr>
        <p:spPr>
          <a:xfrm>
            <a:off x="4743450" y="3586163"/>
            <a:ext cx="3571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The 256-bit output lies within 2⁻⁶⁴ statistical distance of a uniform string.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5" name="Google Shape;175;p30"/>
          <p:cNvSpPr/>
          <p:nvPr/>
        </p:nvSpPr>
        <p:spPr>
          <a:xfrm>
            <a:off x="0" y="5029401"/>
            <a:ext cx="9144000" cy="114300"/>
          </a:xfrm>
          <a:prstGeom prst="rect">
            <a:avLst/>
          </a:prstGeom>
          <a:solidFill>
            <a:srgbClr val="CFA16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30"/>
          <p:cNvSpPr/>
          <p:nvPr/>
        </p:nvSpPr>
        <p:spPr>
          <a:xfrm>
            <a:off x="385763" y="4214813"/>
            <a:ext cx="8372400" cy="72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7" name="Google Shape;177;p30"/>
          <p:cNvSpPr/>
          <p:nvPr/>
        </p:nvSpPr>
        <p:spPr>
          <a:xfrm>
            <a:off x="385763" y="4329113"/>
            <a:ext cx="3000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rPr>
              <a:t>Near-uniform, not perfectly uniform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8" name="Google Shape;178;p30"/>
          <p:cNvSpPr/>
          <p:nvPr/>
        </p:nvSpPr>
        <p:spPr>
          <a:xfrm>
            <a:off x="3343275" y="4286250"/>
            <a:ext cx="5415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65656"/>
                </a:solidFill>
                <a:latin typeface="Open Sans"/>
                <a:ea typeface="Open Sans"/>
                <a:cs typeface="Open Sans"/>
                <a:sym typeface="Open Sans"/>
              </a:rPr>
              <a:t>The Toeplitz seed must be independent of the lightning input. It may be public and need not be secret.</a:t>
            </a:r>
            <a:endParaRPr sz="110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 txBox="1"/>
          <p:nvPr>
            <p:ph type="title"/>
          </p:nvPr>
        </p:nvSpPr>
        <p:spPr>
          <a:xfrm>
            <a:off x="311700" y="19857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4 Matrix</a:t>
            </a:r>
            <a:endParaRPr/>
          </a:p>
        </p:txBody>
      </p:sp>
      <p:graphicFrame>
        <p:nvGraphicFramePr>
          <p:cNvPr id="184" name="Google Shape;184;p31"/>
          <p:cNvGraphicFramePr/>
          <p:nvPr/>
        </p:nvGraphicFramePr>
        <p:xfrm>
          <a:off x="1252525" y="1096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{632A51E4-7181-481E-9C1D-C2D1FE825318}</a:tableStyleId>
              </a:tblPr>
              <a:tblGrid>
                <a:gridCol w="1114425"/>
                <a:gridCol w="1095375"/>
                <a:gridCol w="733425"/>
                <a:gridCol w="838200"/>
                <a:gridCol w="933450"/>
                <a:gridCol w="1924050"/>
              </a:tblGrid>
              <a:tr h="327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Completion</a:t>
                      </a:r>
                      <a:endParaRPr b="1"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Aidan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Gianni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Joanna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 Do</a:t>
                      </a:r>
                      <a:endParaRPr b="1"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 Test Rust Server on Raspberry Pi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Integrate database importation and ensure expected behavior continues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 Data fetchers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Finalize automated fetch scripts and error handling for dropped API connections.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 Entropy analysis and maximization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Complete statistical randomness testing (NIST SP 800-22 suite) on normalized datasets.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4. Gather high entropy data sets with over 10^6 samples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 completed. Datasets stored and formatted for model ingest.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</a:t>
            </a:r>
            <a:r>
              <a:rPr lang="en"/>
              <a:t>5 Task</a:t>
            </a:r>
            <a:r>
              <a:rPr lang="en"/>
              <a:t> Matrix</a:t>
            </a:r>
            <a:endParaRPr/>
          </a:p>
        </p:txBody>
      </p:sp>
      <p:sp>
        <p:nvSpPr>
          <p:cNvPr id="190" name="Google Shape;190;p32"/>
          <p:cNvSpPr txBox="1"/>
          <p:nvPr>
            <p:ph idx="1" type="body"/>
          </p:nvPr>
        </p:nvSpPr>
        <p:spPr>
          <a:xfrm>
            <a:off x="311700" y="1455400"/>
            <a:ext cx="8588700" cy="330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Fully implement and secure the Python API using token-based authentication (OAuth2/JWT).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Integrate NIST-approved Post-Quantum Cryptography (PQC) schemes into the key generation pipeline.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end-to-end database security and access control mechanisms for raw lightning telemetry data.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